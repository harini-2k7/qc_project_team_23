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222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1965960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spc="100" kern="0" dirty="0">
                <a:solidFill>
                  <a:srgbClr val="8FC6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QUANTUM COMPUTING FOR</a:t>
            </a:r>
            <a:endParaRPr lang="en-US" sz="1600" dirty="0"/>
          </a:p>
        </p:txBody>
      </p:sp>
      <p:sp>
        <p:nvSpPr>
          <p:cNvPr id="3" name="Text 1"/>
          <p:cNvSpPr txBox="1"/>
          <p:nvPr/>
        </p:nvSpPr>
        <p:spPr>
          <a:xfrm>
            <a:off x="822960" y="2377440"/>
            <a:ext cx="10515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Climate and Sustainability</a:t>
            </a:r>
            <a:endParaRPr lang="en-US" sz="4400" dirty="0"/>
          </a:p>
        </p:txBody>
      </p:sp>
      <p:sp>
        <p:nvSpPr>
          <p:cNvPr id="4" name="Text 2"/>
          <p:cNvSpPr txBox="1"/>
          <p:nvPr/>
        </p:nvSpPr>
        <p:spPr>
          <a:xfrm>
            <a:off x="822960" y="3429000"/>
            <a:ext cx="8778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C7D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Knowledge mapping and an experimental classical-vs-quantum evaluation of a sustainability optimization problem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822960" y="4251960"/>
            <a:ext cx="2926080" cy="0"/>
          </a:xfrm>
          <a:prstGeom prst="line">
            <a:avLst/>
          </a:prstGeom>
          <a:noFill/>
          <a:ln w="31750">
            <a:solidFill>
              <a:srgbClr val="1F7A72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822960" y="448056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9FB3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 project  ·  Google Colab  ·  Python  ·  QAOA (classical vs quantum comparison)</a:t>
            </a:r>
            <a:endParaRPr lang="en-US" sz="12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4114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F7A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OVERVIEW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02920" y="713232"/>
            <a:ext cx="1118585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626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research and computational experiment — not just a discussion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502920" y="1207008"/>
            <a:ext cx="1118585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B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connected components, built on one guiding rule: don't assume quantum already wins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02920" y="1828800"/>
            <a:ext cx="5349240" cy="2331720"/>
          </a:xfrm>
          <a:prstGeom prst="roundRect">
            <a:avLst>
              <a:gd name="adj" fmla="val 3137"/>
            </a:avLst>
          </a:prstGeom>
          <a:solidFill>
            <a:srgbClr val="E7F2F0"/>
          </a:solidFill>
          <a:ln w="12700">
            <a:solidFill>
              <a:srgbClr val="E7F2F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31520" y="2057400"/>
            <a:ext cx="384048" cy="384048"/>
          </a:xfrm>
          <a:prstGeom prst="ellipse">
            <a:avLst/>
          </a:prstGeom>
          <a:solidFill>
            <a:srgbClr val="1F7A72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731520" y="20574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1234440" y="2029968"/>
            <a:ext cx="4434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626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Knowledge Mapping</a:t>
            </a:r>
            <a:endParaRPr lang="en-US" sz="1600" dirty="0"/>
          </a:p>
        </p:txBody>
      </p:sp>
      <p:sp>
        <p:nvSpPr>
          <p:cNvPr id="9" name="Text 7"/>
          <p:cNvSpPr txBox="1"/>
          <p:nvPr/>
        </p:nvSpPr>
        <p:spPr>
          <a:xfrm>
            <a:off x="777240" y="2560320"/>
            <a:ext cx="480060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08000"/>
              </a:lnSpc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16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Study existing research on quantum computing for climate &amp; sustainability</a:t>
            </a:r>
            <a:endParaRPr lang="en-US" sz="1250" dirty="0"/>
          </a:p>
          <a:p>
            <a:pPr marL="342900" indent="-342900">
              <a:lnSpc>
                <a:spcPct val="108000"/>
              </a:lnSpc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16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Identify problems, quantum techniques, applications and limitations</a:t>
            </a:r>
            <a:endParaRPr lang="en-US" sz="1250" dirty="0"/>
          </a:p>
          <a:p>
            <a:pPr marL="342900" indent="-342900">
              <a:lnSpc>
                <a:spcPct val="108000"/>
              </a:lnSpc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16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Surface research gaps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6172200" y="1828800"/>
            <a:ext cx="5349240" cy="2331720"/>
          </a:xfrm>
          <a:prstGeom prst="roundRect">
            <a:avLst>
              <a:gd name="adj" fmla="val 3137"/>
            </a:avLst>
          </a:prstGeom>
          <a:solidFill>
            <a:srgbClr val="FBEEDE"/>
          </a:solidFill>
          <a:ln w="12700">
            <a:solidFill>
              <a:srgbClr val="FBEEDE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400800" y="2057400"/>
            <a:ext cx="384048" cy="384048"/>
          </a:xfrm>
          <a:prstGeom prst="ellipse">
            <a:avLst/>
          </a:prstGeom>
          <a:solidFill>
            <a:srgbClr val="C97A2E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6400800" y="20574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13" name="Text 11"/>
          <p:cNvSpPr txBox="1"/>
          <p:nvPr/>
        </p:nvSpPr>
        <p:spPr>
          <a:xfrm>
            <a:off x="6903720" y="2029968"/>
            <a:ext cx="4434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626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Experimental Quantum Computing</a:t>
            </a:r>
            <a:endParaRPr lang="en-US" sz="1600" dirty="0"/>
          </a:p>
        </p:txBody>
      </p:sp>
      <p:sp>
        <p:nvSpPr>
          <p:cNvPr id="14" name="Text 12"/>
          <p:cNvSpPr txBox="1"/>
          <p:nvPr/>
        </p:nvSpPr>
        <p:spPr>
          <a:xfrm>
            <a:off x="6446520" y="2560320"/>
            <a:ext cx="480060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08000"/>
              </a:lnSpc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16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Select one suitable problem from the literature</a:t>
            </a:r>
            <a:endParaRPr lang="en-US" sz="1250" dirty="0"/>
          </a:p>
          <a:p>
            <a:pPr marL="342900" indent="-342900">
              <a:lnSpc>
                <a:spcPct val="108000"/>
              </a:lnSpc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16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Formulate it as an optimization problem and solve it classically and with a quantum technique</a:t>
            </a:r>
            <a:endParaRPr lang="en-US" sz="1250" dirty="0"/>
          </a:p>
          <a:p>
            <a:pPr marL="342900" indent="-342900">
              <a:lnSpc>
                <a:spcPct val="108000"/>
              </a:lnSpc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16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Compare results and analyze limitations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502920" y="4526280"/>
            <a:ext cx="11185855" cy="1417320"/>
          </a:xfrm>
          <a:prstGeom prst="roundRect">
            <a:avLst>
              <a:gd name="adj" fmla="val 5161"/>
            </a:avLst>
          </a:prstGeom>
          <a:solidFill>
            <a:srgbClr val="F4F6F6"/>
          </a:solidFill>
          <a:ln w="12700">
            <a:solidFill>
              <a:srgbClr val="F4F6F6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731520" y="4526280"/>
            <a:ext cx="10728655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16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core problem: sustainability tasks (energy scheduling, grid optimization, EV charging, transportation, resource allocation) mean searching a huge number of combinations. Classical computers already solve many of these; quantum algorithms such as QAOA, quantum annealing, VQE and QML are being investigated as the variable count grows — but today's hardware still faces noise, limited qubits and short coherence times.</a:t>
            </a:r>
            <a:endParaRPr lang="en-US" sz="1250" dirty="0"/>
          </a:p>
        </p:txBody>
      </p:sp>
      <p:sp>
        <p:nvSpPr>
          <p:cNvPr id="17" name="Text 15"/>
          <p:cNvSpPr txBox="1"/>
          <p:nvPr/>
        </p:nvSpPr>
        <p:spPr>
          <a:xfrm>
            <a:off x="11551615" y="6473952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4114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F7A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 QUESTIONS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02920" y="713232"/>
            <a:ext cx="1118585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626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One central question, six supporting questions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02920" y="1600200"/>
            <a:ext cx="11185855" cy="868680"/>
          </a:xfrm>
          <a:prstGeom prst="roundRect">
            <a:avLst>
              <a:gd name="adj" fmla="val 8421"/>
            </a:avLst>
          </a:prstGeom>
          <a:solidFill>
            <a:srgbClr val="13504B"/>
          </a:solidFill>
          <a:ln w="12700">
            <a:solidFill>
              <a:srgbClr val="13504B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77240" y="1600200"/>
            <a:ext cx="106372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500" i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Can a quantum computing technique be effectively applied to a small-scale climate or sustainability optimization problem, and what can we learn from comparing it with a classical solution?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502920" y="2788920"/>
            <a:ext cx="3545738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DDE4E3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685800" y="2926080"/>
            <a:ext cx="317997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7A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RQ1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685800" y="3227832"/>
            <a:ext cx="317997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16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Which sustainability &amp; climate problems are being investigated with quantum computing?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4322978" y="2788920"/>
            <a:ext cx="3545738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DDE4E3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4505858" y="2926080"/>
            <a:ext cx="317997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7A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RQ2</a:t>
            </a:r>
            <a:endParaRPr lang="en-US" sz="1300" dirty="0"/>
          </a:p>
        </p:txBody>
      </p:sp>
      <p:sp>
        <p:nvSpPr>
          <p:cNvPr id="11" name="Text 9"/>
          <p:cNvSpPr txBox="1"/>
          <p:nvPr/>
        </p:nvSpPr>
        <p:spPr>
          <a:xfrm>
            <a:off x="4505858" y="3227832"/>
            <a:ext cx="317997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16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Which quantum techniques are most associated with these problems?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8143037" y="2788920"/>
            <a:ext cx="3545738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DDE4E3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8325917" y="2926080"/>
            <a:ext cx="317997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7A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RQ3</a:t>
            </a:r>
            <a:endParaRPr lang="en-US" sz="1300" dirty="0"/>
          </a:p>
        </p:txBody>
      </p:sp>
      <p:sp>
        <p:nvSpPr>
          <p:cNvPr id="14" name="Text 12"/>
          <p:cNvSpPr txBox="1"/>
          <p:nvPr/>
        </p:nvSpPr>
        <p:spPr>
          <a:xfrm>
            <a:off x="8325917" y="3227832"/>
            <a:ext cx="317997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16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Which problem suits a small-scale experimental implementation?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502920" y="4480560"/>
            <a:ext cx="3545738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DDE4E3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685800" y="4617720"/>
            <a:ext cx="317997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7A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RQ4</a:t>
            </a:r>
            <a:endParaRPr lang="en-US" sz="1300" dirty="0"/>
          </a:p>
        </p:txBody>
      </p:sp>
      <p:sp>
        <p:nvSpPr>
          <p:cNvPr id="17" name="Text 15"/>
          <p:cNvSpPr txBox="1"/>
          <p:nvPr/>
        </p:nvSpPr>
        <p:spPr>
          <a:xfrm>
            <a:off x="685800" y="4919472"/>
            <a:ext cx="317997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16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 it be formulated for a quantum algorithm such as QAOA?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4322978" y="4480560"/>
            <a:ext cx="3545738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DDE4E3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4505858" y="4617720"/>
            <a:ext cx="317997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7A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RQ5</a:t>
            </a:r>
            <a:endParaRPr lang="en-US" sz="1300" dirty="0"/>
          </a:p>
        </p:txBody>
      </p:sp>
      <p:sp>
        <p:nvSpPr>
          <p:cNvPr id="20" name="Text 18"/>
          <p:cNvSpPr txBox="1"/>
          <p:nvPr/>
        </p:nvSpPr>
        <p:spPr>
          <a:xfrm>
            <a:off x="4505858" y="4919472"/>
            <a:ext cx="317997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16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does the quantum approach compare with a classical baseline?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8143037" y="4480560"/>
            <a:ext cx="3545738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DDE4E3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8325917" y="4617720"/>
            <a:ext cx="317997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7A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RQ6</a:t>
            </a:r>
            <a:endParaRPr lang="en-US" sz="1300" dirty="0"/>
          </a:p>
        </p:txBody>
      </p:sp>
      <p:sp>
        <p:nvSpPr>
          <p:cNvPr id="23" name="Text 21"/>
          <p:cNvSpPr txBox="1"/>
          <p:nvPr/>
        </p:nvSpPr>
        <p:spPr>
          <a:xfrm>
            <a:off x="8325917" y="4919472"/>
            <a:ext cx="317997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16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limits practical large-scale quantum deployment today?</a:t>
            </a:r>
            <a:endParaRPr lang="en-US" sz="1150" dirty="0"/>
          </a:p>
        </p:txBody>
      </p:sp>
      <p:sp>
        <p:nvSpPr>
          <p:cNvPr id="24" name="Text 22"/>
          <p:cNvSpPr txBox="1"/>
          <p:nvPr/>
        </p:nvSpPr>
        <p:spPr>
          <a:xfrm>
            <a:off x="11551615" y="6473952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4114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F7A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LITERATURE APPROACH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02920" y="713232"/>
            <a:ext cx="1118585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626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Map the literature first, then choose a problem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502920" y="1207008"/>
            <a:ext cx="1118585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B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Not: "we chose renewable energy because it seemed interesting"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02920" y="1874520"/>
            <a:ext cx="1483309" cy="868680"/>
          </a:xfrm>
          <a:prstGeom prst="roundRect">
            <a:avLst>
              <a:gd name="adj" fmla="val 8421"/>
            </a:avLst>
          </a:prstGeom>
          <a:solidFill>
            <a:srgbClr val="E7F2F0"/>
          </a:solidFill>
          <a:ln w="12700">
            <a:solidFill>
              <a:srgbClr val="E7F2F0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502920" y="1874520"/>
            <a:ext cx="1483309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350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Existing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1350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</a:t>
            </a:r>
            <a:endParaRPr lang="en-US" sz="1100" dirty="0"/>
          </a:p>
        </p:txBody>
      </p:sp>
      <p:sp>
        <p:nvSpPr>
          <p:cNvPr id="7" name="Text 5"/>
          <p:cNvSpPr txBox="1"/>
          <p:nvPr/>
        </p:nvSpPr>
        <p:spPr>
          <a:xfrm>
            <a:off x="1986229" y="1874520"/>
            <a:ext cx="4572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5B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2443429" y="1874520"/>
            <a:ext cx="1483309" cy="868680"/>
          </a:xfrm>
          <a:prstGeom prst="roundRect">
            <a:avLst>
              <a:gd name="adj" fmla="val 8421"/>
            </a:avLst>
          </a:prstGeom>
          <a:solidFill>
            <a:srgbClr val="E7F2F0"/>
          </a:solidFill>
          <a:ln w="12700">
            <a:solidFill>
              <a:srgbClr val="E7F2F0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2443429" y="1874520"/>
            <a:ext cx="1483309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350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Identify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1350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applications</a:t>
            </a:r>
            <a:endParaRPr lang="en-US" sz="1100" dirty="0"/>
          </a:p>
        </p:txBody>
      </p:sp>
      <p:sp>
        <p:nvSpPr>
          <p:cNvPr id="10" name="Text 8"/>
          <p:cNvSpPr txBox="1"/>
          <p:nvPr/>
        </p:nvSpPr>
        <p:spPr>
          <a:xfrm>
            <a:off x="3926738" y="1874520"/>
            <a:ext cx="4572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5B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4383938" y="1874520"/>
            <a:ext cx="1483309" cy="868680"/>
          </a:xfrm>
          <a:prstGeom prst="roundRect">
            <a:avLst>
              <a:gd name="adj" fmla="val 8421"/>
            </a:avLst>
          </a:prstGeom>
          <a:solidFill>
            <a:srgbClr val="E7F2F0"/>
          </a:solidFill>
          <a:ln w="12700">
            <a:solidFill>
              <a:srgbClr val="E7F2F0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4383938" y="1874520"/>
            <a:ext cx="1483309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350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Identify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1350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techniques</a:t>
            </a:r>
            <a:endParaRPr lang="en-US" sz="1100" dirty="0"/>
          </a:p>
        </p:txBody>
      </p:sp>
      <p:sp>
        <p:nvSpPr>
          <p:cNvPr id="13" name="Text 11"/>
          <p:cNvSpPr txBox="1"/>
          <p:nvPr/>
        </p:nvSpPr>
        <p:spPr>
          <a:xfrm>
            <a:off x="5867248" y="1874520"/>
            <a:ext cx="4572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5B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6324448" y="1874520"/>
            <a:ext cx="1483309" cy="868680"/>
          </a:xfrm>
          <a:prstGeom prst="roundRect">
            <a:avLst>
              <a:gd name="adj" fmla="val 8421"/>
            </a:avLst>
          </a:prstGeom>
          <a:solidFill>
            <a:srgbClr val="E7F2F0"/>
          </a:solidFill>
          <a:ln w="12700">
            <a:solidFill>
              <a:srgbClr val="E7F2F0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6324448" y="1874520"/>
            <a:ext cx="1483309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350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Identify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1350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 gaps</a:t>
            </a:r>
            <a:endParaRPr lang="en-US" sz="1100" dirty="0"/>
          </a:p>
        </p:txBody>
      </p:sp>
      <p:sp>
        <p:nvSpPr>
          <p:cNvPr id="16" name="Text 14"/>
          <p:cNvSpPr txBox="1"/>
          <p:nvPr/>
        </p:nvSpPr>
        <p:spPr>
          <a:xfrm>
            <a:off x="7807757" y="1874520"/>
            <a:ext cx="4572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5B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8264957" y="1874520"/>
            <a:ext cx="1483309" cy="868680"/>
          </a:xfrm>
          <a:prstGeom prst="roundRect">
            <a:avLst>
              <a:gd name="adj" fmla="val 8421"/>
            </a:avLst>
          </a:prstGeom>
          <a:solidFill>
            <a:srgbClr val="1F7A72"/>
          </a:solidFill>
          <a:ln w="12700">
            <a:solidFill>
              <a:srgbClr val="1F7A72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8264957" y="1874520"/>
            <a:ext cx="1483309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Select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</a:t>
            </a:r>
            <a:endParaRPr lang="en-US" sz="1100" dirty="0"/>
          </a:p>
        </p:txBody>
      </p:sp>
      <p:sp>
        <p:nvSpPr>
          <p:cNvPr id="19" name="Text 17"/>
          <p:cNvSpPr txBox="1"/>
          <p:nvPr/>
        </p:nvSpPr>
        <p:spPr>
          <a:xfrm>
            <a:off x="9748266" y="1874520"/>
            <a:ext cx="4572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5B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10205466" y="1874520"/>
            <a:ext cx="1483309" cy="868680"/>
          </a:xfrm>
          <a:prstGeom prst="roundRect">
            <a:avLst>
              <a:gd name="adj" fmla="val 8421"/>
            </a:avLst>
          </a:prstGeom>
          <a:solidFill>
            <a:srgbClr val="E7F2F0"/>
          </a:solidFill>
          <a:ln w="12700">
            <a:solidFill>
              <a:srgbClr val="E7F2F0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10205466" y="1874520"/>
            <a:ext cx="1483309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350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1350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experiment</a:t>
            </a:r>
            <a:endParaRPr lang="en-US" sz="1100" dirty="0"/>
          </a:p>
        </p:txBody>
      </p:sp>
      <p:sp>
        <p:nvSpPr>
          <p:cNvPr id="22" name="Text 20"/>
          <p:cNvSpPr txBox="1"/>
          <p:nvPr/>
        </p:nvSpPr>
        <p:spPr>
          <a:xfrm>
            <a:off x="502920" y="306324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626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Four starting papers — expanding to about 10–15</a:t>
            </a:r>
            <a:endParaRPr lang="en-US" sz="1400" dirty="0"/>
          </a:p>
        </p:txBody>
      </p:sp>
      <p:sp>
        <p:nvSpPr>
          <p:cNvPr id="23" name="Shape 21"/>
          <p:cNvSpPr/>
          <p:nvPr/>
        </p:nvSpPr>
        <p:spPr>
          <a:xfrm>
            <a:off x="502920" y="3474720"/>
            <a:ext cx="5455768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DDE4E3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667512" y="3639312"/>
            <a:ext cx="365760" cy="365760"/>
          </a:xfrm>
          <a:prstGeom prst="ellipse">
            <a:avLst/>
          </a:prstGeom>
          <a:solidFill>
            <a:srgbClr val="C97A2E"/>
          </a:solidFill>
          <a:ln/>
        </p:spPr>
      </p:sp>
      <p:sp>
        <p:nvSpPr>
          <p:cNvPr id="25" name="Text 23"/>
          <p:cNvSpPr txBox="1"/>
          <p:nvPr/>
        </p:nvSpPr>
        <p:spPr>
          <a:xfrm>
            <a:off x="667512" y="363931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P1</a:t>
            </a:r>
            <a:endParaRPr lang="en-US" sz="1300" dirty="0"/>
          </a:p>
        </p:txBody>
      </p:sp>
      <p:sp>
        <p:nvSpPr>
          <p:cNvPr id="26" name="Text 24"/>
          <p:cNvSpPr txBox="1"/>
          <p:nvPr/>
        </p:nvSpPr>
        <p:spPr>
          <a:xfrm>
            <a:off x="1143000" y="3611880"/>
            <a:ext cx="46328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5B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Yadav &amp; Rawat, 2026</a:t>
            </a:r>
            <a:endParaRPr lang="en-US" sz="1100" dirty="0"/>
          </a:p>
        </p:txBody>
      </p:sp>
      <p:sp>
        <p:nvSpPr>
          <p:cNvPr id="27" name="Text 25"/>
          <p:cNvSpPr txBox="1"/>
          <p:nvPr/>
        </p:nvSpPr>
        <p:spPr>
          <a:xfrm>
            <a:off x="731520" y="3977640"/>
            <a:ext cx="499856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00" b="1" dirty="0">
                <a:solidFill>
                  <a:srgbClr val="16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Knowledge Mapping of Quantum Computing for Climate Change Research and Sustainable Innovation</a:t>
            </a:r>
            <a:endParaRPr lang="en-US" sz="1100" dirty="0"/>
          </a:p>
        </p:txBody>
      </p:sp>
      <p:sp>
        <p:nvSpPr>
          <p:cNvPr id="28" name="Text 26"/>
          <p:cNvSpPr txBox="1"/>
          <p:nvPr/>
        </p:nvSpPr>
        <p:spPr>
          <a:xfrm>
            <a:off x="731520" y="4498848"/>
            <a:ext cx="499856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1350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Scientometrics · research trends · gaps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6233008" y="3474720"/>
            <a:ext cx="5455768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DDE4E3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6397600" y="3639312"/>
            <a:ext cx="365760" cy="365760"/>
          </a:xfrm>
          <a:prstGeom prst="ellipse">
            <a:avLst/>
          </a:prstGeom>
          <a:solidFill>
            <a:srgbClr val="C97A2E"/>
          </a:solidFill>
          <a:ln/>
        </p:spPr>
      </p:sp>
      <p:sp>
        <p:nvSpPr>
          <p:cNvPr id="31" name="Text 29"/>
          <p:cNvSpPr txBox="1"/>
          <p:nvPr/>
        </p:nvSpPr>
        <p:spPr>
          <a:xfrm>
            <a:off x="6397600" y="363931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P2</a:t>
            </a:r>
            <a:endParaRPr lang="en-US" sz="1300" dirty="0"/>
          </a:p>
        </p:txBody>
      </p:sp>
      <p:sp>
        <p:nvSpPr>
          <p:cNvPr id="32" name="Text 30"/>
          <p:cNvSpPr txBox="1"/>
          <p:nvPr/>
        </p:nvSpPr>
        <p:spPr>
          <a:xfrm>
            <a:off x="6873088" y="3611880"/>
            <a:ext cx="46328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5B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Berger et al., 2021</a:t>
            </a:r>
            <a:endParaRPr lang="en-US" sz="1100" dirty="0"/>
          </a:p>
        </p:txBody>
      </p:sp>
      <p:sp>
        <p:nvSpPr>
          <p:cNvPr id="33" name="Text 31"/>
          <p:cNvSpPr txBox="1"/>
          <p:nvPr/>
        </p:nvSpPr>
        <p:spPr>
          <a:xfrm>
            <a:off x="6461608" y="3977640"/>
            <a:ext cx="499856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00" b="1" dirty="0">
                <a:solidFill>
                  <a:srgbClr val="16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Quantum Technologies for Climate Change: Preliminary Assessment</a:t>
            </a:r>
            <a:endParaRPr lang="en-US" sz="1100" dirty="0"/>
          </a:p>
        </p:txBody>
      </p:sp>
      <p:sp>
        <p:nvSpPr>
          <p:cNvPr id="34" name="Text 32"/>
          <p:cNvSpPr txBox="1"/>
          <p:nvPr/>
        </p:nvSpPr>
        <p:spPr>
          <a:xfrm>
            <a:off x="6461608" y="4498848"/>
            <a:ext cx="499856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1350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Simulation · optimization · sensing · energy · grids · transport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502920" y="5074920"/>
            <a:ext cx="5455768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DDE4E3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667512" y="5239512"/>
            <a:ext cx="365760" cy="365760"/>
          </a:xfrm>
          <a:prstGeom prst="ellipse">
            <a:avLst/>
          </a:prstGeom>
          <a:solidFill>
            <a:srgbClr val="C97A2E"/>
          </a:solidFill>
          <a:ln/>
        </p:spPr>
      </p:sp>
      <p:sp>
        <p:nvSpPr>
          <p:cNvPr id="37" name="Text 35"/>
          <p:cNvSpPr txBox="1"/>
          <p:nvPr/>
        </p:nvSpPr>
        <p:spPr>
          <a:xfrm>
            <a:off x="667512" y="523951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P3</a:t>
            </a:r>
            <a:endParaRPr lang="en-US" sz="1300" dirty="0"/>
          </a:p>
        </p:txBody>
      </p:sp>
      <p:sp>
        <p:nvSpPr>
          <p:cNvPr id="38" name="Text 36"/>
          <p:cNvSpPr txBox="1"/>
          <p:nvPr/>
        </p:nvSpPr>
        <p:spPr>
          <a:xfrm>
            <a:off x="1143000" y="5212080"/>
            <a:ext cx="46328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5B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Root, 2025</a:t>
            </a:r>
            <a:endParaRPr lang="en-US" sz="1100" dirty="0"/>
          </a:p>
        </p:txBody>
      </p:sp>
      <p:sp>
        <p:nvSpPr>
          <p:cNvPr id="39" name="Text 37"/>
          <p:cNvSpPr txBox="1"/>
          <p:nvPr/>
        </p:nvSpPr>
        <p:spPr>
          <a:xfrm>
            <a:off x="731520" y="5577840"/>
            <a:ext cx="499856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00" b="1" dirty="0">
                <a:solidFill>
                  <a:srgbClr val="16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Quantum Technologies in the Context of Climate Change: a Responsible Innovation Approach</a:t>
            </a:r>
            <a:endParaRPr lang="en-US" sz="1100" dirty="0"/>
          </a:p>
        </p:txBody>
      </p:sp>
      <p:sp>
        <p:nvSpPr>
          <p:cNvPr id="40" name="Text 38"/>
          <p:cNvSpPr txBox="1"/>
          <p:nvPr/>
        </p:nvSpPr>
        <p:spPr>
          <a:xfrm>
            <a:off x="731520" y="6099048"/>
            <a:ext cx="499856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1350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Footprint of quantum tech itself · energy use</a:t>
            </a:r>
            <a:endParaRPr lang="en-US" sz="1000" dirty="0"/>
          </a:p>
        </p:txBody>
      </p:sp>
      <p:sp>
        <p:nvSpPr>
          <p:cNvPr id="41" name="Shape 39"/>
          <p:cNvSpPr/>
          <p:nvPr/>
        </p:nvSpPr>
        <p:spPr>
          <a:xfrm>
            <a:off x="6233008" y="5074920"/>
            <a:ext cx="5455768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DDE4E3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6397600" y="5239512"/>
            <a:ext cx="365760" cy="365760"/>
          </a:xfrm>
          <a:prstGeom prst="ellipse">
            <a:avLst/>
          </a:prstGeom>
          <a:solidFill>
            <a:srgbClr val="C97A2E"/>
          </a:solidFill>
          <a:ln/>
        </p:spPr>
      </p:sp>
      <p:sp>
        <p:nvSpPr>
          <p:cNvPr id="43" name="Text 41"/>
          <p:cNvSpPr txBox="1"/>
          <p:nvPr/>
        </p:nvSpPr>
        <p:spPr>
          <a:xfrm>
            <a:off x="6397600" y="523951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P4</a:t>
            </a:r>
            <a:endParaRPr lang="en-US" sz="1300" dirty="0"/>
          </a:p>
        </p:txBody>
      </p:sp>
      <p:sp>
        <p:nvSpPr>
          <p:cNvPr id="44" name="Text 42"/>
          <p:cNvSpPr txBox="1"/>
          <p:nvPr/>
        </p:nvSpPr>
        <p:spPr>
          <a:xfrm>
            <a:off x="6873088" y="5212080"/>
            <a:ext cx="46328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5B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Schwabe et al., 2025</a:t>
            </a:r>
            <a:endParaRPr lang="en-US" sz="1100" dirty="0"/>
          </a:p>
        </p:txBody>
      </p:sp>
      <p:sp>
        <p:nvSpPr>
          <p:cNvPr id="45" name="Text 43"/>
          <p:cNvSpPr txBox="1"/>
          <p:nvPr/>
        </p:nvSpPr>
        <p:spPr>
          <a:xfrm>
            <a:off x="6461608" y="5577840"/>
            <a:ext cx="499856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00" b="1" dirty="0">
                <a:solidFill>
                  <a:srgbClr val="16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Opportunities and Challenges of Quantum Computing for Climate Modeling</a:t>
            </a:r>
            <a:endParaRPr lang="en-US" sz="1100" dirty="0"/>
          </a:p>
        </p:txBody>
      </p:sp>
      <p:sp>
        <p:nvSpPr>
          <p:cNvPr id="46" name="Text 44"/>
          <p:cNvSpPr txBox="1"/>
          <p:nvPr/>
        </p:nvSpPr>
        <p:spPr>
          <a:xfrm>
            <a:off x="6461608" y="6099048"/>
            <a:ext cx="499856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1350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Climate modeling · QML · QAOA · VQE · QLBM</a:t>
            </a:r>
            <a:endParaRPr lang="en-US" sz="1000" dirty="0"/>
          </a:p>
        </p:txBody>
      </p:sp>
      <p:sp>
        <p:nvSpPr>
          <p:cNvPr id="47" name="Text 45"/>
          <p:cNvSpPr txBox="1"/>
          <p:nvPr/>
        </p:nvSpPr>
        <p:spPr>
          <a:xfrm>
            <a:off x="11551615" y="6473952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4114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F7A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KNOWLEDGE MAPPING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02920" y="713232"/>
            <a:ext cx="1118585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626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Structured dataset and knowledge graph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502920" y="1207008"/>
            <a:ext cx="1118585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B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 papers → CSV → pandas → cleaning → analysis → visualization</a:t>
            </a:r>
            <a:endParaRPr lang="en-US" sz="1300" dirty="0"/>
          </a:p>
        </p:txBody>
      </p:sp>
      <p:sp>
        <p:nvSpPr>
          <p:cNvPr id="5" name="Text 3"/>
          <p:cNvSpPr txBox="1"/>
          <p:nvPr/>
        </p:nvSpPr>
        <p:spPr>
          <a:xfrm>
            <a:off x="502920" y="1783080"/>
            <a:ext cx="5394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626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literature.csv — one row per paper, 16 fields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502920" y="2203704"/>
            <a:ext cx="2514600" cy="292608"/>
          </a:xfrm>
          <a:prstGeom prst="roundRect">
            <a:avLst>
              <a:gd name="adj" fmla="val 15625"/>
            </a:avLst>
          </a:prstGeom>
          <a:solidFill>
            <a:srgbClr val="E7F2F0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502920" y="2203704"/>
            <a:ext cx="2514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350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Paper_ID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3200400" y="2203704"/>
            <a:ext cx="2514600" cy="292608"/>
          </a:xfrm>
          <a:prstGeom prst="roundRect">
            <a:avLst>
              <a:gd name="adj" fmla="val 15625"/>
            </a:avLst>
          </a:prstGeom>
          <a:solidFill>
            <a:srgbClr val="E7F2F0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3200400" y="2203704"/>
            <a:ext cx="2514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350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Year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502920" y="2587752"/>
            <a:ext cx="2514600" cy="292608"/>
          </a:xfrm>
          <a:prstGeom prst="roundRect">
            <a:avLst>
              <a:gd name="adj" fmla="val 15625"/>
            </a:avLst>
          </a:prstGeom>
          <a:solidFill>
            <a:srgbClr val="E7F2F0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502920" y="2587752"/>
            <a:ext cx="2514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350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Research_Area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3200400" y="2587752"/>
            <a:ext cx="2514600" cy="292608"/>
          </a:xfrm>
          <a:prstGeom prst="roundRect">
            <a:avLst>
              <a:gd name="adj" fmla="val 15625"/>
            </a:avLst>
          </a:prstGeom>
          <a:solidFill>
            <a:srgbClr val="E7F2F0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3200400" y="2587752"/>
            <a:ext cx="2514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350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502920" y="2971800"/>
            <a:ext cx="2514600" cy="292608"/>
          </a:xfrm>
          <a:prstGeom prst="roundRect">
            <a:avLst>
              <a:gd name="adj" fmla="val 15625"/>
            </a:avLst>
          </a:prstGeom>
          <a:solidFill>
            <a:srgbClr val="E7F2F0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502920" y="2971800"/>
            <a:ext cx="2514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350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Quantum_Technique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3200400" y="2971800"/>
            <a:ext cx="2514600" cy="292608"/>
          </a:xfrm>
          <a:prstGeom prst="roundRect">
            <a:avLst>
              <a:gd name="adj" fmla="val 15625"/>
            </a:avLst>
          </a:prstGeom>
          <a:solidFill>
            <a:srgbClr val="E7F2F0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3200400" y="2971800"/>
            <a:ext cx="2514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350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Application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502920" y="3355848"/>
            <a:ext cx="2514600" cy="292608"/>
          </a:xfrm>
          <a:prstGeom prst="roundRect">
            <a:avLst>
              <a:gd name="adj" fmla="val 15625"/>
            </a:avLst>
          </a:prstGeom>
          <a:solidFill>
            <a:srgbClr val="E7F2F0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502920" y="3355848"/>
            <a:ext cx="2514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350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Algorithm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3200400" y="3355848"/>
            <a:ext cx="2514600" cy="292608"/>
          </a:xfrm>
          <a:prstGeom prst="roundRect">
            <a:avLst>
              <a:gd name="adj" fmla="val 15625"/>
            </a:avLst>
          </a:prstGeom>
          <a:solidFill>
            <a:srgbClr val="E7F2F0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3200400" y="3355848"/>
            <a:ext cx="2514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350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Classical_Method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502920" y="3739896"/>
            <a:ext cx="2514600" cy="292608"/>
          </a:xfrm>
          <a:prstGeom prst="roundRect">
            <a:avLst>
              <a:gd name="adj" fmla="val 15625"/>
            </a:avLst>
          </a:prstGeom>
          <a:solidFill>
            <a:srgbClr val="E7F2F0"/>
          </a:solidFill>
          <a:ln/>
        </p:spPr>
      </p:sp>
      <p:sp>
        <p:nvSpPr>
          <p:cNvPr id="23" name="Text 21"/>
          <p:cNvSpPr txBox="1"/>
          <p:nvPr/>
        </p:nvSpPr>
        <p:spPr>
          <a:xfrm>
            <a:off x="502920" y="3739896"/>
            <a:ext cx="2514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350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Implementation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3200400" y="3739896"/>
            <a:ext cx="2514600" cy="292608"/>
          </a:xfrm>
          <a:prstGeom prst="roundRect">
            <a:avLst>
              <a:gd name="adj" fmla="val 15625"/>
            </a:avLst>
          </a:prstGeom>
          <a:solidFill>
            <a:srgbClr val="E7F2F0"/>
          </a:solidFill>
          <a:ln/>
        </p:spPr>
      </p:sp>
      <p:sp>
        <p:nvSpPr>
          <p:cNvPr id="25" name="Text 23"/>
          <p:cNvSpPr txBox="1"/>
          <p:nvPr/>
        </p:nvSpPr>
        <p:spPr>
          <a:xfrm>
            <a:off x="3200400" y="3739896"/>
            <a:ext cx="2514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350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Quantum_Advantage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502920" y="4123944"/>
            <a:ext cx="2514600" cy="292608"/>
          </a:xfrm>
          <a:prstGeom prst="roundRect">
            <a:avLst>
              <a:gd name="adj" fmla="val 15625"/>
            </a:avLst>
          </a:prstGeom>
          <a:solidFill>
            <a:srgbClr val="E7F2F0"/>
          </a:solidFill>
          <a:ln/>
        </p:spPr>
      </p:sp>
      <p:sp>
        <p:nvSpPr>
          <p:cNvPr id="27" name="Text 25"/>
          <p:cNvSpPr txBox="1"/>
          <p:nvPr/>
        </p:nvSpPr>
        <p:spPr>
          <a:xfrm>
            <a:off x="502920" y="4123944"/>
            <a:ext cx="2514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350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Key_Finding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3200400" y="4123944"/>
            <a:ext cx="2514600" cy="292608"/>
          </a:xfrm>
          <a:prstGeom prst="roundRect">
            <a:avLst>
              <a:gd name="adj" fmla="val 15625"/>
            </a:avLst>
          </a:prstGeom>
          <a:solidFill>
            <a:srgbClr val="E7F2F0"/>
          </a:solidFill>
          <a:ln/>
        </p:spPr>
      </p:sp>
      <p:sp>
        <p:nvSpPr>
          <p:cNvPr id="29" name="Text 27"/>
          <p:cNvSpPr txBox="1"/>
          <p:nvPr/>
        </p:nvSpPr>
        <p:spPr>
          <a:xfrm>
            <a:off x="3200400" y="4123944"/>
            <a:ext cx="2514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350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Limitation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502920" y="4507992"/>
            <a:ext cx="2514600" cy="292608"/>
          </a:xfrm>
          <a:prstGeom prst="roundRect">
            <a:avLst>
              <a:gd name="adj" fmla="val 15625"/>
            </a:avLst>
          </a:prstGeom>
          <a:solidFill>
            <a:srgbClr val="E7F2F0"/>
          </a:solidFill>
          <a:ln/>
        </p:spPr>
      </p:sp>
      <p:sp>
        <p:nvSpPr>
          <p:cNvPr id="31" name="Text 29"/>
          <p:cNvSpPr txBox="1"/>
          <p:nvPr/>
        </p:nvSpPr>
        <p:spPr>
          <a:xfrm>
            <a:off x="502920" y="4507992"/>
            <a:ext cx="2514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350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Sustainability_Impact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3200400" y="4507992"/>
            <a:ext cx="2514600" cy="292608"/>
          </a:xfrm>
          <a:prstGeom prst="roundRect">
            <a:avLst>
              <a:gd name="adj" fmla="val 15625"/>
            </a:avLst>
          </a:prstGeom>
          <a:solidFill>
            <a:srgbClr val="E7F2F0"/>
          </a:solidFill>
          <a:ln/>
        </p:spPr>
      </p:sp>
      <p:sp>
        <p:nvSpPr>
          <p:cNvPr id="33" name="Text 31"/>
          <p:cNvSpPr txBox="1"/>
          <p:nvPr/>
        </p:nvSpPr>
        <p:spPr>
          <a:xfrm>
            <a:off x="3200400" y="4507992"/>
            <a:ext cx="2514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350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Research_Gap</a:t>
            </a:r>
            <a:endParaRPr lang="en-US" sz="1000" dirty="0"/>
          </a:p>
        </p:txBody>
      </p:sp>
      <p:sp>
        <p:nvSpPr>
          <p:cNvPr id="34" name="Text 32"/>
          <p:cNvSpPr txBox="1"/>
          <p:nvPr/>
        </p:nvSpPr>
        <p:spPr>
          <a:xfrm>
            <a:off x="6492240" y="1783080"/>
            <a:ext cx="519653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626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Knowledge graph — two example chains</a:t>
            </a:r>
            <a:endParaRPr lang="en-US" sz="1300" dirty="0"/>
          </a:p>
        </p:txBody>
      </p:sp>
      <p:sp>
        <p:nvSpPr>
          <p:cNvPr id="35" name="Shape 33"/>
          <p:cNvSpPr/>
          <p:nvPr/>
        </p:nvSpPr>
        <p:spPr>
          <a:xfrm>
            <a:off x="6492240" y="2194560"/>
            <a:ext cx="5196535" cy="301752"/>
          </a:xfrm>
          <a:prstGeom prst="roundRect">
            <a:avLst>
              <a:gd name="adj" fmla="val 15152"/>
            </a:avLst>
          </a:prstGeom>
          <a:solidFill>
            <a:srgbClr val="C97A2E"/>
          </a:solidFill>
          <a:ln w="12700">
            <a:solidFill>
              <a:srgbClr val="C97A2E"/>
            </a:solidFill>
            <a:prstDash val="solid"/>
          </a:ln>
        </p:spPr>
      </p:sp>
      <p:sp>
        <p:nvSpPr>
          <p:cNvPr id="36" name="Text 34"/>
          <p:cNvSpPr txBox="1"/>
          <p:nvPr/>
        </p:nvSpPr>
        <p:spPr>
          <a:xfrm>
            <a:off x="6601968" y="2194560"/>
            <a:ext cx="4977079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QAOA</a:t>
            </a:r>
            <a:endParaRPr lang="en-US" sz="1000" dirty="0"/>
          </a:p>
        </p:txBody>
      </p:sp>
      <p:sp>
        <p:nvSpPr>
          <p:cNvPr id="37" name="Shape 35"/>
          <p:cNvSpPr/>
          <p:nvPr/>
        </p:nvSpPr>
        <p:spPr>
          <a:xfrm>
            <a:off x="6492240" y="2578608"/>
            <a:ext cx="5196535" cy="301752"/>
          </a:xfrm>
          <a:prstGeom prst="roundRect">
            <a:avLst>
              <a:gd name="adj" fmla="val 15152"/>
            </a:avLst>
          </a:prstGeom>
          <a:solidFill>
            <a:srgbClr val="FFFFFF"/>
          </a:solidFill>
          <a:ln w="12700">
            <a:solidFill>
              <a:srgbClr val="DDE4E3"/>
            </a:solidFill>
            <a:prstDash val="solid"/>
          </a:ln>
        </p:spPr>
      </p:sp>
      <p:sp>
        <p:nvSpPr>
          <p:cNvPr id="38" name="Text 36"/>
          <p:cNvSpPr txBox="1"/>
          <p:nvPr/>
        </p:nvSpPr>
        <p:spPr>
          <a:xfrm>
            <a:off x="6601968" y="2578608"/>
            <a:ext cx="4977079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6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Combinatorial optimization</a:t>
            </a:r>
            <a:endParaRPr lang="en-US" sz="1000" dirty="0"/>
          </a:p>
        </p:txBody>
      </p:sp>
      <p:sp>
        <p:nvSpPr>
          <p:cNvPr id="39" name="Shape 37"/>
          <p:cNvSpPr/>
          <p:nvPr/>
        </p:nvSpPr>
        <p:spPr>
          <a:xfrm>
            <a:off x="6492240" y="2962656"/>
            <a:ext cx="5196535" cy="301752"/>
          </a:xfrm>
          <a:prstGeom prst="roundRect">
            <a:avLst>
              <a:gd name="adj" fmla="val 15152"/>
            </a:avLst>
          </a:prstGeom>
          <a:solidFill>
            <a:srgbClr val="FFFFFF"/>
          </a:solidFill>
          <a:ln w="12700">
            <a:solidFill>
              <a:srgbClr val="DDE4E3"/>
            </a:solidFill>
            <a:prstDash val="solid"/>
          </a:ln>
        </p:spPr>
      </p:sp>
      <p:sp>
        <p:nvSpPr>
          <p:cNvPr id="40" name="Text 38"/>
          <p:cNvSpPr txBox="1"/>
          <p:nvPr/>
        </p:nvSpPr>
        <p:spPr>
          <a:xfrm>
            <a:off x="6601968" y="2962656"/>
            <a:ext cx="4977079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6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Renewable energy scheduling</a:t>
            </a:r>
            <a:endParaRPr lang="en-US" sz="1000" dirty="0"/>
          </a:p>
        </p:txBody>
      </p:sp>
      <p:sp>
        <p:nvSpPr>
          <p:cNvPr id="41" name="Shape 39"/>
          <p:cNvSpPr/>
          <p:nvPr/>
        </p:nvSpPr>
        <p:spPr>
          <a:xfrm>
            <a:off x="6492240" y="3346704"/>
            <a:ext cx="5196535" cy="301752"/>
          </a:xfrm>
          <a:prstGeom prst="roundRect">
            <a:avLst>
              <a:gd name="adj" fmla="val 15152"/>
            </a:avLst>
          </a:prstGeom>
          <a:solidFill>
            <a:srgbClr val="FFFFFF"/>
          </a:solidFill>
          <a:ln w="12700">
            <a:solidFill>
              <a:srgbClr val="DDE4E3"/>
            </a:solidFill>
            <a:prstDash val="solid"/>
          </a:ln>
        </p:spPr>
      </p:sp>
      <p:sp>
        <p:nvSpPr>
          <p:cNvPr id="42" name="Text 40"/>
          <p:cNvSpPr txBox="1"/>
          <p:nvPr/>
        </p:nvSpPr>
        <p:spPr>
          <a:xfrm>
            <a:off x="6601968" y="3346704"/>
            <a:ext cx="4977079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6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Energy resource allocation</a:t>
            </a:r>
            <a:endParaRPr lang="en-US" sz="1000" dirty="0"/>
          </a:p>
        </p:txBody>
      </p:sp>
      <p:sp>
        <p:nvSpPr>
          <p:cNvPr id="43" name="Shape 41"/>
          <p:cNvSpPr/>
          <p:nvPr/>
        </p:nvSpPr>
        <p:spPr>
          <a:xfrm>
            <a:off x="6492240" y="3730752"/>
            <a:ext cx="5196535" cy="301752"/>
          </a:xfrm>
          <a:prstGeom prst="roundRect">
            <a:avLst>
              <a:gd name="adj" fmla="val 15152"/>
            </a:avLst>
          </a:prstGeom>
          <a:solidFill>
            <a:srgbClr val="FFFFFF"/>
          </a:solidFill>
          <a:ln w="12700">
            <a:solidFill>
              <a:srgbClr val="DDE4E3"/>
            </a:solidFill>
            <a:prstDash val="solid"/>
          </a:ln>
        </p:spPr>
      </p:sp>
      <p:sp>
        <p:nvSpPr>
          <p:cNvPr id="44" name="Text 42"/>
          <p:cNvSpPr txBox="1"/>
          <p:nvPr/>
        </p:nvSpPr>
        <p:spPr>
          <a:xfrm>
            <a:off x="6601968" y="3730752"/>
            <a:ext cx="4977079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6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Potential cost / emission reduction</a:t>
            </a:r>
            <a:endParaRPr lang="en-US" sz="1000" dirty="0"/>
          </a:p>
        </p:txBody>
      </p:sp>
      <p:sp>
        <p:nvSpPr>
          <p:cNvPr id="45" name="Shape 43"/>
          <p:cNvSpPr/>
          <p:nvPr/>
        </p:nvSpPr>
        <p:spPr>
          <a:xfrm>
            <a:off x="6492240" y="4160520"/>
            <a:ext cx="5196535" cy="301752"/>
          </a:xfrm>
          <a:prstGeom prst="roundRect">
            <a:avLst>
              <a:gd name="adj" fmla="val 15152"/>
            </a:avLst>
          </a:prstGeom>
          <a:solidFill>
            <a:srgbClr val="C97A2E"/>
          </a:solidFill>
          <a:ln w="12700">
            <a:solidFill>
              <a:srgbClr val="C97A2E"/>
            </a:solidFill>
            <a:prstDash val="solid"/>
          </a:ln>
        </p:spPr>
      </p:sp>
      <p:sp>
        <p:nvSpPr>
          <p:cNvPr id="46" name="Text 44"/>
          <p:cNvSpPr txBox="1"/>
          <p:nvPr/>
        </p:nvSpPr>
        <p:spPr>
          <a:xfrm>
            <a:off x="6601968" y="4160520"/>
            <a:ext cx="4977079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QML</a:t>
            </a:r>
            <a:endParaRPr lang="en-US" sz="1000" dirty="0"/>
          </a:p>
        </p:txBody>
      </p:sp>
      <p:sp>
        <p:nvSpPr>
          <p:cNvPr id="47" name="Shape 45"/>
          <p:cNvSpPr/>
          <p:nvPr/>
        </p:nvSpPr>
        <p:spPr>
          <a:xfrm>
            <a:off x="6492240" y="4544568"/>
            <a:ext cx="5196535" cy="301752"/>
          </a:xfrm>
          <a:prstGeom prst="roundRect">
            <a:avLst>
              <a:gd name="adj" fmla="val 15152"/>
            </a:avLst>
          </a:prstGeom>
          <a:solidFill>
            <a:srgbClr val="FFFFFF"/>
          </a:solidFill>
          <a:ln w="12700">
            <a:solidFill>
              <a:srgbClr val="DDE4E3"/>
            </a:solidFill>
            <a:prstDash val="solid"/>
          </a:ln>
        </p:spPr>
      </p:sp>
      <p:sp>
        <p:nvSpPr>
          <p:cNvPr id="48" name="Text 46"/>
          <p:cNvSpPr txBox="1"/>
          <p:nvPr/>
        </p:nvSpPr>
        <p:spPr>
          <a:xfrm>
            <a:off x="6601968" y="4544568"/>
            <a:ext cx="4977079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6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Classification / prediction</a:t>
            </a:r>
            <a:endParaRPr lang="en-US" sz="1000" dirty="0"/>
          </a:p>
        </p:txBody>
      </p:sp>
      <p:sp>
        <p:nvSpPr>
          <p:cNvPr id="49" name="Shape 47"/>
          <p:cNvSpPr/>
          <p:nvPr/>
        </p:nvSpPr>
        <p:spPr>
          <a:xfrm>
            <a:off x="6492240" y="4928616"/>
            <a:ext cx="5196535" cy="301752"/>
          </a:xfrm>
          <a:prstGeom prst="roundRect">
            <a:avLst>
              <a:gd name="adj" fmla="val 15152"/>
            </a:avLst>
          </a:prstGeom>
          <a:solidFill>
            <a:srgbClr val="FFFFFF"/>
          </a:solidFill>
          <a:ln w="12700">
            <a:solidFill>
              <a:srgbClr val="DDE4E3"/>
            </a:solidFill>
            <a:prstDash val="solid"/>
          </a:ln>
        </p:spPr>
      </p:sp>
      <p:sp>
        <p:nvSpPr>
          <p:cNvPr id="50" name="Text 48"/>
          <p:cNvSpPr txBox="1"/>
          <p:nvPr/>
        </p:nvSpPr>
        <p:spPr>
          <a:xfrm>
            <a:off x="6601968" y="4928616"/>
            <a:ext cx="4977079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6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Environmental data</a:t>
            </a:r>
            <a:endParaRPr lang="en-US" sz="1000" dirty="0"/>
          </a:p>
        </p:txBody>
      </p:sp>
      <p:sp>
        <p:nvSpPr>
          <p:cNvPr id="51" name="Shape 49"/>
          <p:cNvSpPr/>
          <p:nvPr/>
        </p:nvSpPr>
        <p:spPr>
          <a:xfrm>
            <a:off x="6492240" y="5312664"/>
            <a:ext cx="5196535" cy="301752"/>
          </a:xfrm>
          <a:prstGeom prst="roundRect">
            <a:avLst>
              <a:gd name="adj" fmla="val 15152"/>
            </a:avLst>
          </a:prstGeom>
          <a:solidFill>
            <a:srgbClr val="FFFFFF"/>
          </a:solidFill>
          <a:ln w="12700">
            <a:solidFill>
              <a:srgbClr val="DDE4E3"/>
            </a:solidFill>
            <a:prstDash val="solid"/>
          </a:ln>
        </p:spPr>
      </p:sp>
      <p:sp>
        <p:nvSpPr>
          <p:cNvPr id="52" name="Text 50"/>
          <p:cNvSpPr txBox="1"/>
          <p:nvPr/>
        </p:nvSpPr>
        <p:spPr>
          <a:xfrm>
            <a:off x="6601968" y="5312664"/>
            <a:ext cx="4977079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6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Climate prediction</a:t>
            </a:r>
            <a:endParaRPr lang="en-US" sz="1000" dirty="0"/>
          </a:p>
        </p:txBody>
      </p:sp>
      <p:sp>
        <p:nvSpPr>
          <p:cNvPr id="53" name="Shape 51"/>
          <p:cNvSpPr/>
          <p:nvPr/>
        </p:nvSpPr>
        <p:spPr>
          <a:xfrm>
            <a:off x="6492240" y="5696712"/>
            <a:ext cx="5196535" cy="301752"/>
          </a:xfrm>
          <a:prstGeom prst="roundRect">
            <a:avLst>
              <a:gd name="adj" fmla="val 15152"/>
            </a:avLst>
          </a:prstGeom>
          <a:solidFill>
            <a:srgbClr val="FFFFFF"/>
          </a:solidFill>
          <a:ln w="12700">
            <a:solidFill>
              <a:srgbClr val="DDE4E3"/>
            </a:solidFill>
            <a:prstDash val="solid"/>
          </a:ln>
        </p:spPr>
      </p:sp>
      <p:sp>
        <p:nvSpPr>
          <p:cNvPr id="54" name="Text 52"/>
          <p:cNvSpPr txBox="1"/>
          <p:nvPr/>
        </p:nvSpPr>
        <p:spPr>
          <a:xfrm>
            <a:off x="6601968" y="5696712"/>
            <a:ext cx="4977079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6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Environmental decision support</a:t>
            </a:r>
            <a:endParaRPr lang="en-US" sz="1000" dirty="0"/>
          </a:p>
        </p:txBody>
      </p:sp>
      <p:sp>
        <p:nvSpPr>
          <p:cNvPr id="55" name="Text 53"/>
          <p:cNvSpPr txBox="1"/>
          <p:nvPr/>
        </p:nvSpPr>
        <p:spPr>
          <a:xfrm>
            <a:off x="11551615" y="6473952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4114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F7A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SELECTION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02920" y="713232"/>
            <a:ext cx="1118585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626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Selecting the experimental problem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502920" y="1207008"/>
            <a:ext cx="1118585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B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Chosen after literature analysis against fixed criteria — not before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02920" y="1828800"/>
            <a:ext cx="11185855" cy="566928"/>
          </a:xfrm>
          <a:prstGeom prst="roundRect">
            <a:avLst>
              <a:gd name="adj" fmla="val 12903"/>
            </a:avLst>
          </a:prstGeom>
          <a:solidFill>
            <a:srgbClr val="E7F2F0"/>
          </a:solidFill>
          <a:ln w="12700">
            <a:solidFill>
              <a:srgbClr val="1F7A72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40080" y="1929384"/>
            <a:ext cx="365760" cy="365760"/>
          </a:xfrm>
          <a:prstGeom prst="ellipse">
            <a:avLst/>
          </a:prstGeom>
          <a:solidFill>
            <a:srgbClr val="1F7A72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640080" y="1929384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1188720" y="1828800"/>
            <a:ext cx="3291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6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Renewable-energy scheduling</a:t>
            </a:r>
            <a:endParaRPr lang="en-US" sz="1250" dirty="0"/>
          </a:p>
        </p:txBody>
      </p:sp>
      <p:sp>
        <p:nvSpPr>
          <p:cNvPr id="9" name="Text 7"/>
          <p:cNvSpPr txBox="1"/>
          <p:nvPr/>
        </p:nvSpPr>
        <p:spPr>
          <a:xfrm>
            <a:off x="4526280" y="1828800"/>
            <a:ext cx="5760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B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Solar, wind, battery, grid dispatch</a:t>
            </a:r>
            <a:endParaRPr lang="en-US" sz="1150" dirty="0"/>
          </a:p>
        </p:txBody>
      </p:sp>
      <p:sp>
        <p:nvSpPr>
          <p:cNvPr id="10" name="Text 8"/>
          <p:cNvSpPr txBox="1"/>
          <p:nvPr/>
        </p:nvSpPr>
        <p:spPr>
          <a:xfrm>
            <a:off x="10225735" y="1828800"/>
            <a:ext cx="1371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1350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SELECTED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502920" y="2523744"/>
            <a:ext cx="11185855" cy="566928"/>
          </a:xfrm>
          <a:prstGeom prst="roundRect">
            <a:avLst>
              <a:gd name="adj" fmla="val 12903"/>
            </a:avLst>
          </a:prstGeom>
          <a:solidFill>
            <a:srgbClr val="FFFFFF"/>
          </a:solidFill>
          <a:ln w="12700">
            <a:solidFill>
              <a:srgbClr val="DDE4E3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40080" y="2624328"/>
            <a:ext cx="365760" cy="365760"/>
          </a:xfrm>
          <a:prstGeom prst="ellipse">
            <a:avLst/>
          </a:prstGeom>
          <a:solidFill>
            <a:srgbClr val="AEB9B8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640080" y="262432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1300" dirty="0"/>
          </a:p>
        </p:txBody>
      </p:sp>
      <p:sp>
        <p:nvSpPr>
          <p:cNvPr id="14" name="Text 12"/>
          <p:cNvSpPr txBox="1"/>
          <p:nvPr/>
        </p:nvSpPr>
        <p:spPr>
          <a:xfrm>
            <a:off x="1188720" y="2523744"/>
            <a:ext cx="3291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6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 charging optimization</a:t>
            </a:r>
            <a:endParaRPr lang="en-US" sz="1250" dirty="0"/>
          </a:p>
        </p:txBody>
      </p:sp>
      <p:sp>
        <p:nvSpPr>
          <p:cNvPr id="15" name="Text 13"/>
          <p:cNvSpPr txBox="1"/>
          <p:nvPr/>
        </p:nvSpPr>
        <p:spPr>
          <a:xfrm>
            <a:off x="4526280" y="2523744"/>
            <a:ext cx="5760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B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Charge timing to reduce peak demand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502920" y="3218688"/>
            <a:ext cx="11185855" cy="566928"/>
          </a:xfrm>
          <a:prstGeom prst="roundRect">
            <a:avLst>
              <a:gd name="adj" fmla="val 12903"/>
            </a:avLst>
          </a:prstGeom>
          <a:solidFill>
            <a:srgbClr val="FFFFFF"/>
          </a:solidFill>
          <a:ln w="12700">
            <a:solidFill>
              <a:srgbClr val="DDE4E3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40080" y="3319272"/>
            <a:ext cx="365760" cy="365760"/>
          </a:xfrm>
          <a:prstGeom prst="ellipse">
            <a:avLst/>
          </a:prstGeom>
          <a:solidFill>
            <a:srgbClr val="AEB9B8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640080" y="331927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endParaRPr lang="en-US" sz="1300" dirty="0"/>
          </a:p>
        </p:txBody>
      </p:sp>
      <p:sp>
        <p:nvSpPr>
          <p:cNvPr id="19" name="Text 17"/>
          <p:cNvSpPr txBox="1"/>
          <p:nvPr/>
        </p:nvSpPr>
        <p:spPr>
          <a:xfrm>
            <a:off x="1188720" y="3218688"/>
            <a:ext cx="3291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6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Energy-grid optimization</a:t>
            </a:r>
            <a:endParaRPr lang="en-US" sz="1250" dirty="0"/>
          </a:p>
        </p:txBody>
      </p:sp>
      <p:sp>
        <p:nvSpPr>
          <p:cNvPr id="20" name="Text 18"/>
          <p:cNvSpPr txBox="1"/>
          <p:nvPr/>
        </p:nvSpPr>
        <p:spPr>
          <a:xfrm>
            <a:off x="4526280" y="3218688"/>
            <a:ext cx="5760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B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Resource allocation in a simplified network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502920" y="3913632"/>
            <a:ext cx="11185855" cy="566928"/>
          </a:xfrm>
          <a:prstGeom prst="roundRect">
            <a:avLst>
              <a:gd name="adj" fmla="val 12903"/>
            </a:avLst>
          </a:prstGeom>
          <a:solidFill>
            <a:srgbClr val="FFFFFF"/>
          </a:solidFill>
          <a:ln w="12700">
            <a:solidFill>
              <a:srgbClr val="DDE4E3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640080" y="4014216"/>
            <a:ext cx="365760" cy="365760"/>
          </a:xfrm>
          <a:prstGeom prst="ellipse">
            <a:avLst/>
          </a:prstGeom>
          <a:solidFill>
            <a:srgbClr val="AEB9B8"/>
          </a:solidFill>
          <a:ln/>
        </p:spPr>
      </p:sp>
      <p:sp>
        <p:nvSpPr>
          <p:cNvPr id="23" name="Text 21"/>
          <p:cNvSpPr txBox="1"/>
          <p:nvPr/>
        </p:nvSpPr>
        <p:spPr>
          <a:xfrm>
            <a:off x="640080" y="4014216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</a:t>
            </a:r>
            <a:endParaRPr lang="en-US" sz="1300" dirty="0"/>
          </a:p>
        </p:txBody>
      </p:sp>
      <p:sp>
        <p:nvSpPr>
          <p:cNvPr id="24" name="Text 22"/>
          <p:cNvSpPr txBox="1"/>
          <p:nvPr/>
        </p:nvSpPr>
        <p:spPr>
          <a:xfrm>
            <a:off x="1188720" y="3913632"/>
            <a:ext cx="3291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6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Resource allocation</a:t>
            </a:r>
            <a:endParaRPr lang="en-US" sz="1250" dirty="0"/>
          </a:p>
        </p:txBody>
      </p:sp>
      <p:sp>
        <p:nvSpPr>
          <p:cNvPr id="25" name="Text 23"/>
          <p:cNvSpPr txBox="1"/>
          <p:nvPr/>
        </p:nvSpPr>
        <p:spPr>
          <a:xfrm>
            <a:off x="4526280" y="3913632"/>
            <a:ext cx="5760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B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Limited resources, minimal environmental cost</a:t>
            </a:r>
            <a:endParaRPr lang="en-US" sz="1150" dirty="0"/>
          </a:p>
        </p:txBody>
      </p:sp>
      <p:sp>
        <p:nvSpPr>
          <p:cNvPr id="26" name="Shape 24"/>
          <p:cNvSpPr/>
          <p:nvPr/>
        </p:nvSpPr>
        <p:spPr>
          <a:xfrm>
            <a:off x="502920" y="4608576"/>
            <a:ext cx="11185855" cy="566928"/>
          </a:xfrm>
          <a:prstGeom prst="roundRect">
            <a:avLst>
              <a:gd name="adj" fmla="val 12903"/>
            </a:avLst>
          </a:prstGeom>
          <a:solidFill>
            <a:srgbClr val="FFFFFF"/>
          </a:solidFill>
          <a:ln w="12700">
            <a:solidFill>
              <a:srgbClr val="DDE4E3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640080" y="4709160"/>
            <a:ext cx="365760" cy="365760"/>
          </a:xfrm>
          <a:prstGeom prst="ellipse">
            <a:avLst/>
          </a:prstGeom>
          <a:solidFill>
            <a:srgbClr val="AEB9B8"/>
          </a:solidFill>
          <a:ln/>
        </p:spPr>
      </p:sp>
      <p:sp>
        <p:nvSpPr>
          <p:cNvPr id="28" name="Text 26"/>
          <p:cNvSpPr txBox="1"/>
          <p:nvPr/>
        </p:nvSpPr>
        <p:spPr>
          <a:xfrm>
            <a:off x="640080" y="470916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</a:t>
            </a:r>
            <a:endParaRPr lang="en-US" sz="1300" dirty="0"/>
          </a:p>
        </p:txBody>
      </p:sp>
      <p:sp>
        <p:nvSpPr>
          <p:cNvPr id="29" name="Text 27"/>
          <p:cNvSpPr txBox="1"/>
          <p:nvPr/>
        </p:nvSpPr>
        <p:spPr>
          <a:xfrm>
            <a:off x="1188720" y="4608576"/>
            <a:ext cx="3291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6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Transportation optimization</a:t>
            </a:r>
            <a:endParaRPr lang="en-US" sz="1250" dirty="0"/>
          </a:p>
        </p:txBody>
      </p:sp>
      <p:sp>
        <p:nvSpPr>
          <p:cNvPr id="30" name="Text 28"/>
          <p:cNvSpPr txBox="1"/>
          <p:nvPr/>
        </p:nvSpPr>
        <p:spPr>
          <a:xfrm>
            <a:off x="4526280" y="4608576"/>
            <a:ext cx="5760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B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Routes / allocation to cut distance &amp; energy</a:t>
            </a:r>
            <a:endParaRPr lang="en-US" sz="1150" dirty="0"/>
          </a:p>
        </p:txBody>
      </p:sp>
      <p:sp>
        <p:nvSpPr>
          <p:cNvPr id="31" name="Text 29"/>
          <p:cNvSpPr txBox="1"/>
          <p:nvPr/>
        </p:nvSpPr>
        <p:spPr>
          <a:xfrm>
            <a:off x="502920" y="5394960"/>
            <a:ext cx="1118585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5B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Selection criteria: a clear mathematical formulation  ·  few variables/qubits  ·  a classical solution exists  ·  demonstrable in Colab  ·  supported in the literature</a:t>
            </a:r>
            <a:endParaRPr lang="en-US" sz="1100" dirty="0"/>
          </a:p>
        </p:txBody>
      </p:sp>
      <p:sp>
        <p:nvSpPr>
          <p:cNvPr id="32" name="Text 30"/>
          <p:cNvSpPr txBox="1"/>
          <p:nvPr/>
        </p:nvSpPr>
        <p:spPr>
          <a:xfrm>
            <a:off x="11551615" y="6473952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4114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F7A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EXPERIMENTAL PROBLEM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02920" y="713232"/>
            <a:ext cx="1118585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626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Renewable-energy scheduling: the small-scale instance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502920" y="1207008"/>
            <a:ext cx="1118585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B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time periods × 4 sources = 16 binary decisions — 16 qubits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02920" y="1828800"/>
            <a:ext cx="3545738" cy="1965960"/>
          </a:xfrm>
          <a:prstGeom prst="roundRect">
            <a:avLst>
              <a:gd name="adj" fmla="val 3721"/>
            </a:avLst>
          </a:prstGeom>
          <a:solidFill>
            <a:srgbClr val="FFFFFF"/>
          </a:solidFill>
          <a:ln w="12700">
            <a:solidFill>
              <a:srgbClr val="DDE4E3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685800" y="1965960"/>
            <a:ext cx="317997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350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Sources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731520" y="2331720"/>
            <a:ext cx="3088538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16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Solar</a:t>
            </a:r>
            <a:endParaRPr lang="en-US" sz="11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16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Wind</a:t>
            </a:r>
            <a:endParaRPr lang="en-US" sz="11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16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Battery</a:t>
            </a:r>
            <a:endParaRPr lang="en-US" sz="11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16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Grid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4322978" y="1828800"/>
            <a:ext cx="3545738" cy="1965960"/>
          </a:xfrm>
          <a:prstGeom prst="roundRect">
            <a:avLst>
              <a:gd name="adj" fmla="val 3721"/>
            </a:avLst>
          </a:prstGeom>
          <a:solidFill>
            <a:srgbClr val="FFFFFF"/>
          </a:solidFill>
          <a:ln w="12700">
            <a:solidFill>
              <a:srgbClr val="DDE4E3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4505858" y="1965960"/>
            <a:ext cx="317997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350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Time periods</a:t>
            </a:r>
            <a:endParaRPr lang="en-US" sz="1300" dirty="0"/>
          </a:p>
        </p:txBody>
      </p:sp>
      <p:sp>
        <p:nvSpPr>
          <p:cNvPr id="10" name="Text 8"/>
          <p:cNvSpPr txBox="1"/>
          <p:nvPr/>
        </p:nvSpPr>
        <p:spPr>
          <a:xfrm>
            <a:off x="4551578" y="2331720"/>
            <a:ext cx="3088538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16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Morning</a:t>
            </a:r>
            <a:endParaRPr lang="en-US" sz="11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16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Afternoon</a:t>
            </a:r>
            <a:endParaRPr lang="en-US" sz="11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16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Evening</a:t>
            </a:r>
            <a:endParaRPr lang="en-US" sz="11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16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Night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8143037" y="1828800"/>
            <a:ext cx="3545738" cy="1965960"/>
          </a:xfrm>
          <a:prstGeom prst="roundRect">
            <a:avLst>
              <a:gd name="adj" fmla="val 3721"/>
            </a:avLst>
          </a:prstGeom>
          <a:solidFill>
            <a:srgbClr val="FFFFFF"/>
          </a:solidFill>
          <a:ln w="12700">
            <a:solidFill>
              <a:srgbClr val="DDE4E3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8325917" y="1965960"/>
            <a:ext cx="317997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350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Per-period inputs</a:t>
            </a:r>
            <a:endParaRPr lang="en-US" sz="1300" dirty="0"/>
          </a:p>
        </p:txBody>
      </p:sp>
      <p:sp>
        <p:nvSpPr>
          <p:cNvPr id="13" name="Text 11"/>
          <p:cNvSpPr txBox="1"/>
          <p:nvPr/>
        </p:nvSpPr>
        <p:spPr>
          <a:xfrm>
            <a:off x="8371637" y="2331720"/>
            <a:ext cx="3088538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16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Energy demand</a:t>
            </a:r>
            <a:endParaRPr lang="en-US" sz="11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16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Generation capacity</a:t>
            </a:r>
            <a:endParaRPr lang="en-US" sz="11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16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Operating cost</a:t>
            </a:r>
            <a:endParaRPr lang="en-US" sz="11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16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Emission factor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502920" y="4069080"/>
            <a:ext cx="11185855" cy="1051560"/>
          </a:xfrm>
          <a:prstGeom prst="roundRect">
            <a:avLst>
              <a:gd name="adj" fmla="val 6957"/>
            </a:avLst>
          </a:prstGeom>
          <a:solidFill>
            <a:srgbClr val="13504B"/>
          </a:solidFill>
          <a:ln w="12700">
            <a:solidFill>
              <a:srgbClr val="13504B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777240" y="4069080"/>
            <a:ext cx="18288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Objective</a:t>
            </a:r>
            <a:endParaRPr lang="en-US" sz="1400" dirty="0"/>
          </a:p>
        </p:txBody>
      </p:sp>
      <p:sp>
        <p:nvSpPr>
          <p:cNvPr id="16" name="Text 14"/>
          <p:cNvSpPr txBox="1"/>
          <p:nvPr/>
        </p:nvSpPr>
        <p:spPr>
          <a:xfrm>
            <a:off x="2514600" y="4069080"/>
            <a:ext cx="8899855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DCEA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Minimize total operational cost and emissions while meeting demand exactly in every period, subject to a fixed battery-energy budget across the day.</a:t>
            </a:r>
            <a:endParaRPr lang="en-US" sz="1250" dirty="0"/>
          </a:p>
        </p:txBody>
      </p:sp>
      <p:sp>
        <p:nvSpPr>
          <p:cNvPr id="17" name="Text 15"/>
          <p:cNvSpPr txBox="1"/>
          <p:nvPr/>
        </p:nvSpPr>
        <p:spPr>
          <a:xfrm>
            <a:off x="502920" y="5349240"/>
            <a:ext cx="1118585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5B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is synthetic and illustrative, chosen to make the problem small enough to solve exactly and to run on a quantum simulator.</a:t>
            </a:r>
            <a:endParaRPr lang="en-US" sz="1100" dirty="0"/>
          </a:p>
        </p:txBody>
      </p:sp>
      <p:sp>
        <p:nvSpPr>
          <p:cNvPr id="18" name="Text 16"/>
          <p:cNvSpPr txBox="1"/>
          <p:nvPr/>
        </p:nvSpPr>
        <p:spPr>
          <a:xfrm>
            <a:off x="11551615" y="6473952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4114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F7A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METHOD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02920" y="713232"/>
            <a:ext cx="1118585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626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Two solution paths, one problem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02920" y="1783080"/>
            <a:ext cx="5349240" cy="4114800"/>
          </a:xfrm>
          <a:prstGeom prst="roundRect">
            <a:avLst>
              <a:gd name="adj" fmla="val 1778"/>
            </a:avLst>
          </a:prstGeom>
          <a:solidFill>
            <a:srgbClr val="FFFFFF"/>
          </a:solidFill>
          <a:ln w="12700">
            <a:solidFill>
              <a:srgbClr val="DDE4E3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31520" y="1965960"/>
            <a:ext cx="4892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626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Classical baseline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731520" y="2468880"/>
            <a:ext cx="4892040" cy="777240"/>
          </a:xfrm>
          <a:prstGeom prst="roundRect">
            <a:avLst>
              <a:gd name="adj" fmla="val 9412"/>
            </a:avLst>
          </a:prstGeom>
          <a:solidFill>
            <a:srgbClr val="E7F2F0"/>
          </a:solidFill>
          <a:ln w="12700">
            <a:solidFill>
              <a:srgbClr val="E7F2F0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960120" y="2468880"/>
            <a:ext cx="44348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6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Demand, capacity, costs, emission factors</a:t>
            </a:r>
            <a:endParaRPr lang="en-US" sz="1200" dirty="0"/>
          </a:p>
        </p:txBody>
      </p:sp>
      <p:sp>
        <p:nvSpPr>
          <p:cNvPr id="8" name="Text 6"/>
          <p:cNvSpPr txBox="1"/>
          <p:nvPr/>
        </p:nvSpPr>
        <p:spPr>
          <a:xfrm>
            <a:off x="3040380" y="3246120"/>
            <a:ext cx="274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5B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731520" y="3474720"/>
            <a:ext cx="4892040" cy="777240"/>
          </a:xfrm>
          <a:prstGeom prst="roundRect">
            <a:avLst>
              <a:gd name="adj" fmla="val 9412"/>
            </a:avLst>
          </a:prstGeom>
          <a:solidFill>
            <a:srgbClr val="E7F2F0"/>
          </a:solidFill>
          <a:ln w="12700">
            <a:solidFill>
              <a:srgbClr val="E7F2F0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960120" y="3474720"/>
            <a:ext cx="44348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6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Classical optimizer — brute force · ILP · SciPy</a:t>
            </a:r>
            <a:endParaRPr lang="en-US" sz="1200" dirty="0"/>
          </a:p>
        </p:txBody>
      </p:sp>
      <p:sp>
        <p:nvSpPr>
          <p:cNvPr id="11" name="Text 9"/>
          <p:cNvSpPr txBox="1"/>
          <p:nvPr/>
        </p:nvSpPr>
        <p:spPr>
          <a:xfrm>
            <a:off x="3040380" y="4251960"/>
            <a:ext cx="274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5B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731520" y="4480560"/>
            <a:ext cx="4892040" cy="777240"/>
          </a:xfrm>
          <a:prstGeom prst="roundRect">
            <a:avLst>
              <a:gd name="adj" fmla="val 9412"/>
            </a:avLst>
          </a:prstGeom>
          <a:solidFill>
            <a:srgbClr val="E7F2F0"/>
          </a:solidFill>
          <a:ln w="12700">
            <a:solidFill>
              <a:srgbClr val="E7F2F0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960120" y="4480560"/>
            <a:ext cx="44348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6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Optimal / near-optimal schedule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6172200" y="1783080"/>
            <a:ext cx="5349240" cy="4114800"/>
          </a:xfrm>
          <a:prstGeom prst="roundRect">
            <a:avLst>
              <a:gd name="adj" fmla="val 1778"/>
            </a:avLst>
          </a:prstGeom>
          <a:solidFill>
            <a:srgbClr val="FFFFFF"/>
          </a:solidFill>
          <a:ln w="12700">
            <a:solidFill>
              <a:srgbClr val="DDE4E3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6400800" y="1965960"/>
            <a:ext cx="4892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626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Quantum approach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6400800" y="2468880"/>
            <a:ext cx="4892040" cy="777240"/>
          </a:xfrm>
          <a:prstGeom prst="roundRect">
            <a:avLst>
              <a:gd name="adj" fmla="val 9412"/>
            </a:avLst>
          </a:prstGeom>
          <a:solidFill>
            <a:srgbClr val="FBEEDE"/>
          </a:solidFill>
          <a:ln w="12700">
            <a:solidFill>
              <a:srgbClr val="FBEEDE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6629400" y="2468880"/>
            <a:ext cx="44348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6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Binary variables → objective function</a:t>
            </a:r>
            <a:endParaRPr lang="en-US" sz="1200" dirty="0"/>
          </a:p>
        </p:txBody>
      </p:sp>
      <p:sp>
        <p:nvSpPr>
          <p:cNvPr id="18" name="Text 16"/>
          <p:cNvSpPr txBox="1"/>
          <p:nvPr/>
        </p:nvSpPr>
        <p:spPr>
          <a:xfrm>
            <a:off x="8709660" y="3246120"/>
            <a:ext cx="274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5B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6400800" y="3474720"/>
            <a:ext cx="4892040" cy="777240"/>
          </a:xfrm>
          <a:prstGeom prst="roundRect">
            <a:avLst>
              <a:gd name="adj" fmla="val 9412"/>
            </a:avLst>
          </a:prstGeom>
          <a:solidFill>
            <a:srgbClr val="FBEEDE"/>
          </a:solidFill>
          <a:ln w="12700">
            <a:solidFill>
              <a:srgbClr val="FBEEDE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6629400" y="3474720"/>
            <a:ext cx="44348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6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QUBO → Hamiltonian / cost function</a:t>
            </a:r>
            <a:endParaRPr lang="en-US" sz="1200" dirty="0"/>
          </a:p>
        </p:txBody>
      </p:sp>
      <p:sp>
        <p:nvSpPr>
          <p:cNvPr id="21" name="Text 19"/>
          <p:cNvSpPr txBox="1"/>
          <p:nvPr/>
        </p:nvSpPr>
        <p:spPr>
          <a:xfrm>
            <a:off x="8709660" y="4251960"/>
            <a:ext cx="274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5B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</a:t>
            </a:r>
            <a:endParaRPr lang="en-US" sz="1400" dirty="0"/>
          </a:p>
        </p:txBody>
      </p:sp>
      <p:sp>
        <p:nvSpPr>
          <p:cNvPr id="22" name="Shape 20"/>
          <p:cNvSpPr/>
          <p:nvPr/>
        </p:nvSpPr>
        <p:spPr>
          <a:xfrm>
            <a:off x="6400800" y="4480560"/>
            <a:ext cx="4892040" cy="777240"/>
          </a:xfrm>
          <a:prstGeom prst="roundRect">
            <a:avLst>
              <a:gd name="adj" fmla="val 9412"/>
            </a:avLst>
          </a:prstGeom>
          <a:solidFill>
            <a:srgbClr val="FBEEDE"/>
          </a:solidFill>
          <a:ln w="12700">
            <a:solidFill>
              <a:srgbClr val="FBEEDE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6629400" y="4480560"/>
            <a:ext cx="44348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6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QAOA: prepare → measure → tune → repeat</a:t>
            </a:r>
            <a:endParaRPr lang="en-US" sz="1200" dirty="0"/>
          </a:p>
        </p:txBody>
      </p:sp>
      <p:sp>
        <p:nvSpPr>
          <p:cNvPr id="24" name="Text 22"/>
          <p:cNvSpPr txBox="1"/>
          <p:nvPr/>
        </p:nvSpPr>
        <p:spPr>
          <a:xfrm>
            <a:off x="502920" y="6035040"/>
            <a:ext cx="1118585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5B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Both run on an exact NumPy state-vector simulator in Colab — noiseless, so results are fully reproducible.</a:t>
            </a:r>
            <a:endParaRPr lang="en-US" sz="1100" dirty="0"/>
          </a:p>
        </p:txBody>
      </p:sp>
      <p:sp>
        <p:nvSpPr>
          <p:cNvPr id="25" name="Text 23"/>
          <p:cNvSpPr txBox="1"/>
          <p:nvPr/>
        </p:nvSpPr>
        <p:spPr>
          <a:xfrm>
            <a:off x="11551615" y="6473952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4114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F7A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02920" y="713232"/>
            <a:ext cx="1118585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626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Classical vs. quantum: what we measured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502920" y="1207008"/>
            <a:ext cx="1118585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B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problem, same 16 variables, measured the same way — no assumed winner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02920" y="1828800"/>
            <a:ext cx="4698059" cy="502920"/>
          </a:xfrm>
          <a:prstGeom prst="rect">
            <a:avLst/>
          </a:prstGeom>
          <a:solidFill>
            <a:srgbClr val="13504B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640080" y="1828800"/>
            <a:ext cx="4423739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Method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5200979" y="1828800"/>
            <a:ext cx="2460888" cy="502920"/>
          </a:xfrm>
          <a:prstGeom prst="rect">
            <a:avLst/>
          </a:prstGeom>
          <a:solidFill>
            <a:srgbClr val="13504B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5338139" y="1828800"/>
            <a:ext cx="218656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Feasible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7661867" y="1828800"/>
            <a:ext cx="2237171" cy="502920"/>
          </a:xfrm>
          <a:prstGeom prst="rect">
            <a:avLst/>
          </a:prstGeom>
          <a:solidFill>
            <a:srgbClr val="13504B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7799027" y="1828800"/>
            <a:ext cx="1962851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Objective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9899038" y="1828800"/>
            <a:ext cx="1789737" cy="502920"/>
          </a:xfrm>
          <a:prstGeom prst="rect">
            <a:avLst/>
          </a:prstGeom>
          <a:solidFill>
            <a:srgbClr val="13504B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10036198" y="1828800"/>
            <a:ext cx="1515417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502920" y="2331720"/>
            <a:ext cx="4698059" cy="502920"/>
          </a:xfrm>
          <a:prstGeom prst="rect">
            <a:avLst/>
          </a:prstGeom>
          <a:solidFill>
            <a:srgbClr val="FFFFFF"/>
          </a:solidFill>
          <a:ln w="9525">
            <a:solidFill>
              <a:srgbClr val="DDE4E3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640080" y="2331720"/>
            <a:ext cx="4423739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6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Brute force (classical)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5200979" y="2331720"/>
            <a:ext cx="2460888" cy="502920"/>
          </a:xfrm>
          <a:prstGeom prst="rect">
            <a:avLst/>
          </a:prstGeom>
          <a:solidFill>
            <a:srgbClr val="FFFFFF"/>
          </a:solidFill>
          <a:ln w="9525">
            <a:solidFill>
              <a:srgbClr val="DDE4E3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5338139" y="2331720"/>
            <a:ext cx="218656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6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Yes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7661867" y="2331720"/>
            <a:ext cx="2237171" cy="502920"/>
          </a:xfrm>
          <a:prstGeom prst="rect">
            <a:avLst/>
          </a:prstGeom>
          <a:solidFill>
            <a:srgbClr val="FFFFFF"/>
          </a:solidFill>
          <a:ln w="9525">
            <a:solidFill>
              <a:srgbClr val="DDE4E3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7799027" y="2331720"/>
            <a:ext cx="1962851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6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31.38 (optimal)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9899038" y="2331720"/>
            <a:ext cx="1789737" cy="502920"/>
          </a:xfrm>
          <a:prstGeom prst="rect">
            <a:avLst/>
          </a:prstGeom>
          <a:solidFill>
            <a:srgbClr val="FFFFFF"/>
          </a:solidFill>
          <a:ln w="9525">
            <a:solidFill>
              <a:srgbClr val="DDE4E3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10036198" y="2331720"/>
            <a:ext cx="1515417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6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0.03 s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502920" y="2834640"/>
            <a:ext cx="4698059" cy="502920"/>
          </a:xfrm>
          <a:prstGeom prst="rect">
            <a:avLst/>
          </a:prstGeom>
          <a:solidFill>
            <a:srgbClr val="F4F6F6"/>
          </a:solidFill>
          <a:ln w="9525">
            <a:solidFill>
              <a:srgbClr val="DDE4E3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640080" y="2834640"/>
            <a:ext cx="4423739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6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MILP (classical)</a:t>
            </a:r>
            <a:endParaRPr lang="en-US" sz="1150" dirty="0"/>
          </a:p>
        </p:txBody>
      </p:sp>
      <p:sp>
        <p:nvSpPr>
          <p:cNvPr id="23" name="Shape 21"/>
          <p:cNvSpPr/>
          <p:nvPr/>
        </p:nvSpPr>
        <p:spPr>
          <a:xfrm>
            <a:off x="5200979" y="2834640"/>
            <a:ext cx="2460888" cy="502920"/>
          </a:xfrm>
          <a:prstGeom prst="rect">
            <a:avLst/>
          </a:prstGeom>
          <a:solidFill>
            <a:srgbClr val="F4F6F6"/>
          </a:solidFill>
          <a:ln w="9525">
            <a:solidFill>
              <a:srgbClr val="DDE4E3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5338139" y="2834640"/>
            <a:ext cx="218656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6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Yes</a:t>
            </a:r>
            <a:endParaRPr lang="en-US" sz="1150" dirty="0"/>
          </a:p>
        </p:txBody>
      </p:sp>
      <p:sp>
        <p:nvSpPr>
          <p:cNvPr id="25" name="Shape 23"/>
          <p:cNvSpPr/>
          <p:nvPr/>
        </p:nvSpPr>
        <p:spPr>
          <a:xfrm>
            <a:off x="7661867" y="2834640"/>
            <a:ext cx="2237171" cy="502920"/>
          </a:xfrm>
          <a:prstGeom prst="rect">
            <a:avLst/>
          </a:prstGeom>
          <a:solidFill>
            <a:srgbClr val="F4F6F6"/>
          </a:solidFill>
          <a:ln w="9525">
            <a:solidFill>
              <a:srgbClr val="DDE4E3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7799027" y="2834640"/>
            <a:ext cx="1962851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6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31.38 (optimal)</a:t>
            </a:r>
            <a:endParaRPr lang="en-US" sz="1150" dirty="0"/>
          </a:p>
        </p:txBody>
      </p:sp>
      <p:sp>
        <p:nvSpPr>
          <p:cNvPr id="27" name="Shape 25"/>
          <p:cNvSpPr/>
          <p:nvPr/>
        </p:nvSpPr>
        <p:spPr>
          <a:xfrm>
            <a:off x="9899038" y="2834640"/>
            <a:ext cx="1789737" cy="502920"/>
          </a:xfrm>
          <a:prstGeom prst="rect">
            <a:avLst/>
          </a:prstGeom>
          <a:solidFill>
            <a:srgbClr val="F4F6F6"/>
          </a:solidFill>
          <a:ln w="9525">
            <a:solidFill>
              <a:srgbClr val="DDE4E3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10036198" y="2834640"/>
            <a:ext cx="1515417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6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0.01 s</a:t>
            </a:r>
            <a:endParaRPr lang="en-US" sz="1150" dirty="0"/>
          </a:p>
        </p:txBody>
      </p:sp>
      <p:sp>
        <p:nvSpPr>
          <p:cNvPr id="29" name="Shape 27"/>
          <p:cNvSpPr/>
          <p:nvPr/>
        </p:nvSpPr>
        <p:spPr>
          <a:xfrm>
            <a:off x="502920" y="3337560"/>
            <a:ext cx="4698059" cy="502920"/>
          </a:xfrm>
          <a:prstGeom prst="rect">
            <a:avLst/>
          </a:prstGeom>
          <a:solidFill>
            <a:srgbClr val="FBEEDE"/>
          </a:solidFill>
          <a:ln w="9525">
            <a:solidFill>
              <a:srgbClr val="DDE4E3"/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640080" y="3337560"/>
            <a:ext cx="4423739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6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QAOA, depth 2 (simulator)</a:t>
            </a:r>
            <a:endParaRPr lang="en-US" sz="1150" dirty="0"/>
          </a:p>
        </p:txBody>
      </p:sp>
      <p:sp>
        <p:nvSpPr>
          <p:cNvPr id="31" name="Shape 29"/>
          <p:cNvSpPr/>
          <p:nvPr/>
        </p:nvSpPr>
        <p:spPr>
          <a:xfrm>
            <a:off x="5200979" y="3337560"/>
            <a:ext cx="2460888" cy="502920"/>
          </a:xfrm>
          <a:prstGeom prst="rect">
            <a:avLst/>
          </a:prstGeom>
          <a:solidFill>
            <a:srgbClr val="FBEEDE"/>
          </a:solidFill>
          <a:ln w="9525">
            <a:solidFill>
              <a:srgbClr val="DDE4E3"/>
            </a:solidFill>
            <a:prstDash val="solid"/>
          </a:ln>
        </p:spPr>
      </p:sp>
      <p:sp>
        <p:nvSpPr>
          <p:cNvPr id="32" name="Text 30"/>
          <p:cNvSpPr txBox="1"/>
          <p:nvPr/>
        </p:nvSpPr>
        <p:spPr>
          <a:xfrm>
            <a:off x="5338139" y="3337560"/>
            <a:ext cx="218656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6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Yes, best sampled</a:t>
            </a:r>
            <a:endParaRPr lang="en-US" sz="1150" dirty="0"/>
          </a:p>
        </p:txBody>
      </p:sp>
      <p:sp>
        <p:nvSpPr>
          <p:cNvPr id="33" name="Shape 31"/>
          <p:cNvSpPr/>
          <p:nvPr/>
        </p:nvSpPr>
        <p:spPr>
          <a:xfrm>
            <a:off x="7661867" y="3337560"/>
            <a:ext cx="2237171" cy="502920"/>
          </a:xfrm>
          <a:prstGeom prst="rect">
            <a:avLst/>
          </a:prstGeom>
          <a:solidFill>
            <a:srgbClr val="FBEEDE"/>
          </a:solidFill>
          <a:ln w="9525">
            <a:solidFill>
              <a:srgbClr val="DDE4E3"/>
            </a:solidFill>
            <a:prstDash val="solid"/>
          </a:ln>
        </p:spPr>
      </p:sp>
      <p:sp>
        <p:nvSpPr>
          <p:cNvPr id="34" name="Text 32"/>
          <p:cNvSpPr txBox="1"/>
          <p:nvPr/>
        </p:nvSpPr>
        <p:spPr>
          <a:xfrm>
            <a:off x="7799027" y="3337560"/>
            <a:ext cx="1962851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6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31.39 (+0.03%)</a:t>
            </a:r>
            <a:endParaRPr lang="en-US" sz="1150" dirty="0"/>
          </a:p>
        </p:txBody>
      </p:sp>
      <p:sp>
        <p:nvSpPr>
          <p:cNvPr id="35" name="Shape 33"/>
          <p:cNvSpPr/>
          <p:nvPr/>
        </p:nvSpPr>
        <p:spPr>
          <a:xfrm>
            <a:off x="9899038" y="3337560"/>
            <a:ext cx="1789737" cy="502920"/>
          </a:xfrm>
          <a:prstGeom prst="rect">
            <a:avLst/>
          </a:prstGeom>
          <a:solidFill>
            <a:srgbClr val="FBEEDE"/>
          </a:solidFill>
          <a:ln w="9525">
            <a:solidFill>
              <a:srgbClr val="DDE4E3"/>
            </a:solidFill>
            <a:prstDash val="solid"/>
          </a:ln>
        </p:spPr>
      </p:sp>
      <p:sp>
        <p:nvSpPr>
          <p:cNvPr id="36" name="Text 34"/>
          <p:cNvSpPr txBox="1"/>
          <p:nvPr/>
        </p:nvSpPr>
        <p:spPr>
          <a:xfrm>
            <a:off x="10036198" y="3337560"/>
            <a:ext cx="1515417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6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~15 s</a:t>
            </a:r>
            <a:endParaRPr lang="en-US" sz="1150" dirty="0"/>
          </a:p>
        </p:txBody>
      </p:sp>
      <p:sp>
        <p:nvSpPr>
          <p:cNvPr id="37" name="Shape 35"/>
          <p:cNvSpPr/>
          <p:nvPr/>
        </p:nvSpPr>
        <p:spPr>
          <a:xfrm>
            <a:off x="502920" y="4114800"/>
            <a:ext cx="11185855" cy="1417320"/>
          </a:xfrm>
          <a:prstGeom prst="roundRect">
            <a:avLst>
              <a:gd name="adj" fmla="val 5161"/>
            </a:avLst>
          </a:prstGeom>
          <a:solidFill>
            <a:srgbClr val="F4F6F6"/>
          </a:solidFill>
          <a:ln w="12700">
            <a:solidFill>
              <a:srgbClr val="F4F6F6"/>
            </a:solidFill>
            <a:prstDash val="solid"/>
          </a:ln>
        </p:spPr>
      </p:sp>
      <p:sp>
        <p:nvSpPr>
          <p:cNvPr id="38" name="Text 36"/>
          <p:cNvSpPr txBox="1"/>
          <p:nvPr/>
        </p:nvSpPr>
        <p:spPr>
          <a:xfrm>
            <a:off x="731520" y="4224528"/>
            <a:ext cx="10728655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10000"/>
              </a:lnSpc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6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8 of 65,536 possible plans satisfy every constraint. QAOA raised the chance of a valid plan far above random guessing, but never sampled the exact optimum in 4,096 shots — the table shows its best valid sample.</a:t>
            </a:r>
            <a:endParaRPr lang="en-US" sz="1200" dirty="0"/>
          </a:p>
          <a:p>
            <a:pPr marL="342900" indent="-342900">
              <a:lnSpc>
                <a:spcPct val="110000"/>
              </a:lnSpc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6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Classical methods were faster and exactly optimal at this size. Quantum advantage was not established here — the plan treats that as a valid result, not a failure.</a:t>
            </a:r>
            <a:endParaRPr lang="en-US" sz="1200" dirty="0"/>
          </a:p>
        </p:txBody>
      </p:sp>
      <p:sp>
        <p:nvSpPr>
          <p:cNvPr id="39" name="Text 37"/>
          <p:cNvSpPr txBox="1"/>
          <p:nvPr/>
        </p:nvSpPr>
        <p:spPr>
          <a:xfrm>
            <a:off x="11551615" y="6473952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4114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F7A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SUSTAINABILITY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02920" y="713232"/>
            <a:ext cx="1118585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626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Sustainability has two sides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502920" y="1207008"/>
            <a:ext cx="1118585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B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quantum solution is not sustainable merely because it addresses a sustainability problem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02920" y="1828800"/>
            <a:ext cx="5349240" cy="2423160"/>
          </a:xfrm>
          <a:prstGeom prst="roundRect">
            <a:avLst>
              <a:gd name="adj" fmla="val 3019"/>
            </a:avLst>
          </a:prstGeom>
          <a:solidFill>
            <a:srgbClr val="E7F2F0"/>
          </a:solidFill>
          <a:ln w="12700">
            <a:solidFill>
              <a:srgbClr val="E7F2F0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731520" y="1993392"/>
            <a:ext cx="4892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350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Quantum computing FOR sustainability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777240" y="2514600"/>
            <a:ext cx="4800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16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Optimization, simulation and ML applied to climate &amp; energy problems — e.g. energy optimization, renewable scheduling, transportation, environmental prediction.</a:t>
            </a:r>
            <a:endParaRPr lang="en-US" sz="1200" dirty="0"/>
          </a:p>
        </p:txBody>
      </p:sp>
      <p:sp>
        <p:nvSpPr>
          <p:cNvPr id="8" name="Text 6"/>
          <p:cNvSpPr txBox="1"/>
          <p:nvPr/>
        </p:nvSpPr>
        <p:spPr>
          <a:xfrm>
            <a:off x="777240" y="3429000"/>
            <a:ext cx="4800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50" i="1" dirty="0">
                <a:solidFill>
                  <a:srgbClr val="1350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schedule cut emissions to 0.2 tCO₂ vs 12.6 tCO₂ for grid-only supply — but classical solvers find that gain too; it comes from the model, not from quantum.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6172200" y="1828800"/>
            <a:ext cx="5349240" cy="2423160"/>
          </a:xfrm>
          <a:prstGeom prst="roundRect">
            <a:avLst>
              <a:gd name="adj" fmla="val 3019"/>
            </a:avLst>
          </a:prstGeom>
          <a:solidFill>
            <a:srgbClr val="FBEEDE"/>
          </a:solidFill>
          <a:ln w="12700">
            <a:solidFill>
              <a:srgbClr val="FBEEDE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6400800" y="1993392"/>
            <a:ext cx="4892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97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Sustainability OF quantum computing</a:t>
            </a:r>
            <a:endParaRPr lang="en-US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6446520" y="2514600"/>
            <a:ext cx="4800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16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Hardware, cooling and electricity have their own environmental footprint — the potential benefit and the real cost must both be weighed.</a:t>
            </a:r>
            <a:endParaRPr lang="en-US" sz="1200" dirty="0"/>
          </a:p>
        </p:txBody>
      </p:sp>
      <p:sp>
        <p:nvSpPr>
          <p:cNvPr id="12" name="Text 10"/>
          <p:cNvSpPr txBox="1"/>
          <p:nvPr/>
        </p:nvSpPr>
        <p:spPr>
          <a:xfrm>
            <a:off x="6446520" y="3429000"/>
            <a:ext cx="4800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50" i="1" dirty="0">
                <a:solidFill>
                  <a:srgbClr val="8A52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simulator run itself took far more time — and so more energy — than the classical solvers, under stated CPU-power assumptions.</a:t>
            </a:r>
            <a:endParaRPr lang="en-US" sz="1150" dirty="0"/>
          </a:p>
        </p:txBody>
      </p:sp>
      <p:sp>
        <p:nvSpPr>
          <p:cNvPr id="13" name="Text 11"/>
          <p:cNvSpPr txBox="1"/>
          <p:nvPr/>
        </p:nvSpPr>
        <p:spPr>
          <a:xfrm>
            <a:off x="502920" y="4572000"/>
            <a:ext cx="1118585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i="1" dirty="0">
                <a:solidFill>
                  <a:srgbClr val="5B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we will not claim in advance: “Quantum computing will be faster” or “QAOA will reduce emissions.” We keep potential, experimental observation, and demonstrated advantage distinct.</a:t>
            </a:r>
            <a:endParaRPr lang="en-US" sz="1200" dirty="0"/>
          </a:p>
        </p:txBody>
      </p:sp>
      <p:sp>
        <p:nvSpPr>
          <p:cNvPr id="14" name="Text 12"/>
          <p:cNvSpPr txBox="1"/>
          <p:nvPr/>
        </p:nvSpPr>
        <p:spPr>
          <a:xfrm>
            <a:off x="11551615" y="6473952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4114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F7A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LIMITATIONS &amp; RESEARCH GAPS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02920" y="713232"/>
            <a:ext cx="1118585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626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we openly acknowledge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502920" y="173736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626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Limitations of this experiment</a:t>
            </a:r>
            <a:endParaRPr lang="en-US" sz="14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2103120"/>
            <a:ext cx="539496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10000"/>
              </a:lnSpc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16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Small problem size (16 variables)</a:t>
            </a:r>
            <a:endParaRPr lang="en-US" sz="1200" dirty="0"/>
          </a:p>
          <a:p>
            <a:pPr marL="342900" indent="-342900">
              <a:lnSpc>
                <a:spcPct val="110000"/>
              </a:lnSpc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16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Simulated, noiseless quantum environment</a:t>
            </a:r>
            <a:endParaRPr lang="en-US" sz="1200" dirty="0"/>
          </a:p>
          <a:p>
            <a:pPr marL="342900" indent="-342900">
              <a:lnSpc>
                <a:spcPct val="110000"/>
              </a:lnSpc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16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Simplified sustainability model, synthetic data</a:t>
            </a:r>
            <a:endParaRPr lang="en-US" sz="1200" dirty="0"/>
          </a:p>
          <a:p>
            <a:pPr marL="342900" indent="-342900">
              <a:lnSpc>
                <a:spcPct val="110000"/>
              </a:lnSpc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16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claim of large-scale quantum advantage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6492240" y="1737360"/>
            <a:ext cx="519653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626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Research gaps to close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6492240" y="2103120"/>
            <a:ext cx="15087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97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Hardware:</a:t>
            </a:r>
            <a:endParaRPr lang="en-US" sz="1100" dirty="0"/>
          </a:p>
        </p:txBody>
      </p:sp>
      <p:sp>
        <p:nvSpPr>
          <p:cNvPr id="8" name="Text 6"/>
          <p:cNvSpPr txBox="1"/>
          <p:nvPr/>
        </p:nvSpPr>
        <p:spPr>
          <a:xfrm>
            <a:off x="8046720" y="2103120"/>
            <a:ext cx="364205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16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Current devices limit large climate problems</a:t>
            </a:r>
            <a:endParaRPr lang="en-US" sz="1050" dirty="0"/>
          </a:p>
        </p:txBody>
      </p:sp>
      <p:sp>
        <p:nvSpPr>
          <p:cNvPr id="9" name="Text 7"/>
          <p:cNvSpPr txBox="1"/>
          <p:nvPr/>
        </p:nvSpPr>
        <p:spPr>
          <a:xfrm>
            <a:off x="6492240" y="2542032"/>
            <a:ext cx="15087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97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Data:</a:t>
            </a:r>
            <a:endParaRPr lang="en-US" sz="1100" dirty="0"/>
          </a:p>
        </p:txBody>
      </p:sp>
      <p:sp>
        <p:nvSpPr>
          <p:cNvPr id="10" name="Text 8"/>
          <p:cNvSpPr txBox="1"/>
          <p:nvPr/>
        </p:nvSpPr>
        <p:spPr>
          <a:xfrm>
            <a:off x="8046720" y="2542032"/>
            <a:ext cx="364205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16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climate datasets are huge and hard to encode</a:t>
            </a:r>
            <a:endParaRPr lang="en-US" sz="1050" dirty="0"/>
          </a:p>
        </p:txBody>
      </p:sp>
      <p:sp>
        <p:nvSpPr>
          <p:cNvPr id="11" name="Text 9"/>
          <p:cNvSpPr txBox="1"/>
          <p:nvPr/>
        </p:nvSpPr>
        <p:spPr>
          <a:xfrm>
            <a:off x="6492240" y="2980944"/>
            <a:ext cx="15087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97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Scalability: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8046720" y="2980944"/>
            <a:ext cx="364205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16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4–16 variables says nothing about thousands</a:t>
            </a:r>
            <a:endParaRPr lang="en-US" sz="1050" dirty="0"/>
          </a:p>
        </p:txBody>
      </p:sp>
      <p:sp>
        <p:nvSpPr>
          <p:cNvPr id="13" name="Text 11"/>
          <p:cNvSpPr txBox="1"/>
          <p:nvPr/>
        </p:nvSpPr>
        <p:spPr>
          <a:xfrm>
            <a:off x="6492240" y="3419856"/>
            <a:ext cx="15087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97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Benchmarking:</a:t>
            </a:r>
            <a:endParaRPr lang="en-US" sz="1100" dirty="0"/>
          </a:p>
        </p:txBody>
      </p:sp>
      <p:sp>
        <p:nvSpPr>
          <p:cNvPr id="14" name="Text 12"/>
          <p:cNvSpPr txBox="1"/>
          <p:nvPr/>
        </p:nvSpPr>
        <p:spPr>
          <a:xfrm>
            <a:off x="8046720" y="3419856"/>
            <a:ext cx="364205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16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Needs rigorous comparison with strong classical methods</a:t>
            </a:r>
            <a:endParaRPr lang="en-US" sz="1050" dirty="0"/>
          </a:p>
        </p:txBody>
      </p:sp>
      <p:sp>
        <p:nvSpPr>
          <p:cNvPr id="15" name="Text 13"/>
          <p:cNvSpPr txBox="1"/>
          <p:nvPr/>
        </p:nvSpPr>
        <p:spPr>
          <a:xfrm>
            <a:off x="6492240" y="3858768"/>
            <a:ext cx="15087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97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Quantum advantage:</a:t>
            </a:r>
            <a:endParaRPr lang="en-US" sz="1100" dirty="0"/>
          </a:p>
        </p:txBody>
      </p:sp>
      <p:sp>
        <p:nvSpPr>
          <p:cNvPr id="16" name="Text 14"/>
          <p:cNvSpPr txBox="1"/>
          <p:nvPr/>
        </p:nvSpPr>
        <p:spPr>
          <a:xfrm>
            <a:off x="8046720" y="3858768"/>
            <a:ext cx="364205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16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Potential usefulness ≠ demonstrated advantage</a:t>
            </a:r>
            <a:endParaRPr lang="en-US" sz="1050" dirty="0"/>
          </a:p>
        </p:txBody>
      </p:sp>
      <p:sp>
        <p:nvSpPr>
          <p:cNvPr id="17" name="Text 15"/>
          <p:cNvSpPr txBox="1"/>
          <p:nvPr/>
        </p:nvSpPr>
        <p:spPr>
          <a:xfrm>
            <a:off x="6492240" y="4297680"/>
            <a:ext cx="15087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97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Sustainability:</a:t>
            </a:r>
            <a:endParaRPr lang="en-US" sz="1100" dirty="0"/>
          </a:p>
        </p:txBody>
      </p:sp>
      <p:sp>
        <p:nvSpPr>
          <p:cNvPr id="18" name="Text 16"/>
          <p:cNvSpPr txBox="1"/>
          <p:nvPr/>
        </p:nvSpPr>
        <p:spPr>
          <a:xfrm>
            <a:off x="8046720" y="4297680"/>
            <a:ext cx="364205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16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Quantum computing has its own environmental footprint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502920" y="4709160"/>
            <a:ext cx="11185855" cy="1051560"/>
          </a:xfrm>
          <a:prstGeom prst="roundRect">
            <a:avLst>
              <a:gd name="adj" fmla="val 6957"/>
            </a:avLst>
          </a:prstGeom>
          <a:solidFill>
            <a:srgbClr val="F4F6F6"/>
          </a:solidFill>
          <a:ln w="12700">
            <a:solidFill>
              <a:srgbClr val="F4F6F6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731520" y="482803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626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Future scope</a:t>
            </a:r>
            <a:endParaRPr lang="en-US" sz="1300" dirty="0"/>
          </a:p>
        </p:txBody>
      </p:sp>
      <p:sp>
        <p:nvSpPr>
          <p:cNvPr id="21" name="Text 19"/>
          <p:cNvSpPr txBox="1"/>
          <p:nvPr/>
        </p:nvSpPr>
        <p:spPr>
          <a:xfrm>
            <a:off x="731520" y="5120640"/>
            <a:ext cx="10728655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16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Scale 16 → 32+ variables  ·  run on real quantum hardware  ·  use real demand/solar/wind/EV data  ·  multi-objective cost + CO₂ + losses  ·  measure quantum's own footprint  ·  larger climate models</a:t>
            </a:r>
            <a:endParaRPr lang="en-US" sz="1100" dirty="0"/>
          </a:p>
        </p:txBody>
      </p:sp>
      <p:sp>
        <p:nvSpPr>
          <p:cNvPr id="22" name="Text 20"/>
          <p:cNvSpPr txBox="1"/>
          <p:nvPr/>
        </p:nvSpPr>
        <p:spPr>
          <a:xfrm>
            <a:off x="11551615" y="6473952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F222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640080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8FC6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PROJECT IN ONE MESSAGE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822960" y="1188720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9FB3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this: “Quantum computers will solve climate change.”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822960" y="1554480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9FB3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this: “Let’s run QAOA and prove quantum is better.”</a:t>
            </a:r>
            <a:endParaRPr lang="en-US" sz="1300" dirty="0"/>
          </a:p>
        </p:txBody>
      </p:sp>
      <p:sp>
        <p:nvSpPr>
          <p:cNvPr id="5" name="Text 3"/>
          <p:cNvSpPr txBox="1"/>
          <p:nvPr/>
        </p:nvSpPr>
        <p:spPr>
          <a:xfrm>
            <a:off x="822960" y="2103120"/>
            <a:ext cx="1033272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9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We investigate whether and how quantum computing can be applied to a specific sustainability problem — literature evidence to select it, a classical baseline to compare against, and a quantum experiment to evaluate the approach.</a:t>
            </a:r>
            <a:endParaRPr lang="en-US" sz="1900" dirty="0"/>
          </a:p>
        </p:txBody>
      </p:sp>
      <p:sp>
        <p:nvSpPr>
          <p:cNvPr id="6" name="Shape 4"/>
          <p:cNvSpPr/>
          <p:nvPr/>
        </p:nvSpPr>
        <p:spPr>
          <a:xfrm>
            <a:off x="822960" y="3337560"/>
            <a:ext cx="10332720" cy="0"/>
          </a:xfrm>
          <a:prstGeom prst="line">
            <a:avLst/>
          </a:prstGeom>
          <a:noFill/>
          <a:ln w="12700">
            <a:solidFill>
              <a:srgbClr val="2C4C4E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822960" y="3657600"/>
            <a:ext cx="1417320" cy="822960"/>
          </a:xfrm>
          <a:prstGeom prst="roundRect">
            <a:avLst>
              <a:gd name="adj" fmla="val 7778"/>
            </a:avLst>
          </a:prstGeom>
          <a:solidFill>
            <a:srgbClr val="16333A"/>
          </a:solidFill>
          <a:ln w="12700">
            <a:solidFill>
              <a:srgbClr val="1F7A72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896112" y="3657600"/>
            <a:ext cx="127101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050" b="1" dirty="0">
                <a:solidFill>
                  <a:srgbClr val="D7E7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Literature evidence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2606040" y="3657600"/>
            <a:ext cx="1417320" cy="822960"/>
          </a:xfrm>
          <a:prstGeom prst="roundRect">
            <a:avLst>
              <a:gd name="adj" fmla="val 7778"/>
            </a:avLst>
          </a:prstGeom>
          <a:solidFill>
            <a:srgbClr val="16333A"/>
          </a:solidFill>
          <a:ln w="12700">
            <a:solidFill>
              <a:srgbClr val="1F7A72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2679192" y="3657600"/>
            <a:ext cx="127101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050" b="1" dirty="0">
                <a:solidFill>
                  <a:srgbClr val="D7E7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Structured data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4389120" y="3657600"/>
            <a:ext cx="1417320" cy="822960"/>
          </a:xfrm>
          <a:prstGeom prst="roundRect">
            <a:avLst>
              <a:gd name="adj" fmla="val 7778"/>
            </a:avLst>
          </a:prstGeom>
          <a:solidFill>
            <a:srgbClr val="16333A"/>
          </a:solidFill>
          <a:ln w="12700">
            <a:solidFill>
              <a:srgbClr val="1F7A72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4462272" y="3657600"/>
            <a:ext cx="127101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050" b="1" dirty="0">
                <a:solidFill>
                  <a:srgbClr val="D7E7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Knowledge map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6172200" y="3657600"/>
            <a:ext cx="1417320" cy="822960"/>
          </a:xfrm>
          <a:prstGeom prst="roundRect">
            <a:avLst>
              <a:gd name="adj" fmla="val 7778"/>
            </a:avLst>
          </a:prstGeom>
          <a:solidFill>
            <a:srgbClr val="16333A"/>
          </a:solidFill>
          <a:ln w="12700">
            <a:solidFill>
              <a:srgbClr val="1F7A72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6245352" y="3657600"/>
            <a:ext cx="127101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050" b="1" dirty="0">
                <a:solidFill>
                  <a:srgbClr val="D7E7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Classical baseline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7955280" y="3657600"/>
            <a:ext cx="1417320" cy="822960"/>
          </a:xfrm>
          <a:prstGeom prst="roundRect">
            <a:avLst>
              <a:gd name="adj" fmla="val 7778"/>
            </a:avLst>
          </a:prstGeom>
          <a:solidFill>
            <a:srgbClr val="16333A"/>
          </a:solidFill>
          <a:ln w="12700">
            <a:solidFill>
              <a:srgbClr val="1F7A72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8028432" y="3657600"/>
            <a:ext cx="127101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050" b="1" dirty="0">
                <a:solidFill>
                  <a:srgbClr val="D7E7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QAOA experiment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9738360" y="3657600"/>
            <a:ext cx="1417320" cy="822960"/>
          </a:xfrm>
          <a:prstGeom prst="roundRect">
            <a:avLst>
              <a:gd name="adj" fmla="val 7778"/>
            </a:avLst>
          </a:prstGeom>
          <a:solidFill>
            <a:srgbClr val="16333A"/>
          </a:solidFill>
          <a:ln w="12700">
            <a:solidFill>
              <a:srgbClr val="1F7A72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9811512" y="3657600"/>
            <a:ext cx="127101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050" b="1" dirty="0">
                <a:solidFill>
                  <a:srgbClr val="D7E7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Limitations &amp; gaps</a:t>
            </a:r>
            <a:endParaRPr lang="en-US" sz="1050" dirty="0"/>
          </a:p>
        </p:txBody>
      </p:sp>
      <p:sp>
        <p:nvSpPr>
          <p:cNvPr id="19" name="Text 17"/>
          <p:cNvSpPr txBox="1"/>
          <p:nvPr/>
        </p:nvSpPr>
        <p:spPr>
          <a:xfrm>
            <a:off x="822960" y="4846320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FB3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Team: A Literature   ·   B Data &amp; Knowledge Mapping   ·   C Quantum Experiment   ·   D Evaluation &amp; Paper</a:t>
            </a:r>
            <a:endParaRPr lang="en-US" sz="1200" dirty="0"/>
          </a:p>
        </p:txBody>
      </p:sp>
      <p:sp>
        <p:nvSpPr>
          <p:cNvPr id="20" name="Text 18"/>
          <p:cNvSpPr txBox="1"/>
          <p:nvPr/>
        </p:nvSpPr>
        <p:spPr>
          <a:xfrm>
            <a:off x="822960" y="5257800"/>
            <a:ext cx="10332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C7D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Next: finalize 10–15 papers → build the CSV → select the problem → classical baseline → QUBO/QAOA → compare → write the paper. Don’t promise the paper that quantum will outperform classical — the contribution is the experimental evaluation.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2026-09-29T05:00:00Z</dcterms:created>
  <dcterms:modified xsi:type="dcterms:W3CDTF">2026-09-29T05:00:00Z</dcterms:modified>
</cp:coreProperties>
</file>